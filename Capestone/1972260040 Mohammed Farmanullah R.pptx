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75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2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 J.G." userId="d39671850fac66f9" providerId="LiveId" clId="{1A5C01BB-AE00-4B2F-92CA-862BADF1927E}"/>
    <pc:docChg chg="custSel addSld modSld">
      <pc:chgData name="KAVIN J.G." userId="d39671850fac66f9" providerId="LiveId" clId="{1A5C01BB-AE00-4B2F-92CA-862BADF1927E}" dt="2026-08-31T02:39:32.595" v="13" actId="1036"/>
      <pc:docMkLst>
        <pc:docMk/>
      </pc:docMkLst>
      <pc:sldChg chg="delSp modSp mod">
        <pc:chgData name="KAVIN J.G." userId="d39671850fac66f9" providerId="LiveId" clId="{1A5C01BB-AE00-4B2F-92CA-862BADF1927E}" dt="2026-08-31T02:24:39.872" v="2" actId="478"/>
        <pc:sldMkLst>
          <pc:docMk/>
          <pc:sldMk cId="0" sldId="261"/>
        </pc:sldMkLst>
        <pc:spChg chg="del mod">
          <ac:chgData name="KAVIN J.G." userId="d39671850fac66f9" providerId="LiveId" clId="{1A5C01BB-AE00-4B2F-92CA-862BADF1927E}" dt="2026-08-31T02:24:33.132" v="1" actId="478"/>
          <ac:spMkLst>
            <pc:docMk/>
            <pc:sldMk cId="0" sldId="261"/>
            <ac:spMk id="44" creationId="{00000000-0000-0000-0000-000000000000}"/>
          </ac:spMkLst>
        </pc:spChg>
        <pc:spChg chg="del">
          <ac:chgData name="KAVIN J.G." userId="d39671850fac66f9" providerId="LiveId" clId="{1A5C01BB-AE00-4B2F-92CA-862BADF1927E}" dt="2026-08-31T02:24:39.872" v="2" actId="478"/>
          <ac:spMkLst>
            <pc:docMk/>
            <pc:sldMk cId="0" sldId="261"/>
            <ac:spMk id="45" creationId="{00000000-0000-0000-0000-000000000000}"/>
          </ac:spMkLst>
        </pc:spChg>
      </pc:sldChg>
      <pc:sldChg chg="addSp modSp new mod">
        <pc:chgData name="KAVIN J.G." userId="d39671850fac66f9" providerId="LiveId" clId="{1A5C01BB-AE00-4B2F-92CA-862BADF1927E}" dt="2026-08-31T02:39:32.595" v="13" actId="1036"/>
        <pc:sldMkLst>
          <pc:docMk/>
          <pc:sldMk cId="1643241124" sldId="274"/>
        </pc:sldMkLst>
        <pc:picChg chg="add mod">
          <ac:chgData name="KAVIN J.G." userId="d39671850fac66f9" providerId="LiveId" clId="{1A5C01BB-AE00-4B2F-92CA-862BADF1927E}" dt="2026-08-31T02:39:32.595" v="13" actId="1036"/>
          <ac:picMkLst>
            <pc:docMk/>
            <pc:sldMk cId="1643241124" sldId="274"/>
            <ac:picMk id="3" creationId="{C1A47CFF-9C24-F031-4DA8-74C7BB2C01C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ln w="25400" cap="flat">
              <a:solidFill>
                <a:srgbClr val="0B2E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E59"/>
              </a:solidFill>
              <a:ln w="9525" cap="flat">
                <a:solidFill>
                  <a:srgbClr val="0B2E5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55</c:v>
                </c:pt>
                <c:pt idx="2">
                  <c:v>49</c:v>
                </c:pt>
                <c:pt idx="3">
                  <c:v>62</c:v>
                </c:pt>
                <c:pt idx="4">
                  <c:v>58</c:v>
                </c:pt>
                <c:pt idx="5">
                  <c:v>66</c:v>
                </c:pt>
                <c:pt idx="6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E6-4449-8CF9-1799EF56BA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31</c:v>
                </c:pt>
                <c:pt idx="2">
                  <c:v>30</c:v>
                </c:pt>
                <c:pt idx="3">
                  <c:v>35</c:v>
                </c:pt>
                <c:pt idx="4">
                  <c:v>33</c:v>
                </c:pt>
                <c:pt idx="5">
                  <c:v>39</c:v>
                </c:pt>
                <c:pt idx="6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E6-4449-8CF9-1799EF56BA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Alert threshold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52</c:v>
                </c:pt>
                <c:pt idx="1">
                  <c:v>52</c:v>
                </c:pt>
                <c:pt idx="2">
                  <c:v>52</c:v>
                </c:pt>
                <c:pt idx="3">
                  <c:v>52</c:v>
                </c:pt>
                <c:pt idx="4">
                  <c:v>52</c:v>
                </c:pt>
                <c:pt idx="5">
                  <c:v>52</c:v>
                </c:pt>
                <c:pt idx="6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E6-4449-8CF9-1799EF56B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8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6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B2E59">
              <a:alpha val="72157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3709540" y="16652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3"/>
          <p:cNvSpPr/>
          <p:nvPr/>
        </p:nvSpPr>
        <p:spPr>
          <a:xfrm>
            <a:off x="3862387" y="1639081"/>
            <a:ext cx="1571625" cy="138113"/>
          </a:xfrm>
          <a:custGeom>
            <a:avLst/>
            <a:gdLst/>
            <a:ahLst/>
            <a:cxnLst/>
            <a:rect l="l" t="t" r="r" b="b"/>
            <a:pathLst>
              <a:path w="1571625" h="138113">
                <a:moveTo>
                  <a:pt x="0" y="0"/>
                </a:moveTo>
                <a:lnTo>
                  <a:pt x="1571625" y="0"/>
                </a:lnTo>
                <a:lnTo>
                  <a:pt x="15716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862387" y="1639081"/>
            <a:ext cx="1571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428750" y="1881187"/>
            <a:ext cx="6286500" cy="700088"/>
          </a:xfrm>
          <a:custGeom>
            <a:avLst/>
            <a:gdLst/>
            <a:ahLst/>
            <a:cxnLst/>
            <a:rect l="l" t="t" r="r" b="b"/>
            <a:pathLst>
              <a:path w="6286500" h="700088">
                <a:moveTo>
                  <a:pt x="0" y="0"/>
                </a:moveTo>
                <a:lnTo>
                  <a:pt x="6286500" y="0"/>
                </a:lnTo>
                <a:lnTo>
                  <a:pt x="62865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428750" y="1881187"/>
            <a:ext cx="6286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IoT-Based Energy-Efficient Home Appliance Automation Hub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52625" y="2666702"/>
            <a:ext cx="5238750" cy="404813"/>
          </a:xfrm>
          <a:custGeom>
            <a:avLst/>
            <a:gdLst/>
            <a:ahLst/>
            <a:cxnLst/>
            <a:rect l="l" t="t" r="r" b="b"/>
            <a:pathLst>
              <a:path w="5238750" h="404813">
                <a:moveTo>
                  <a:pt x="0" y="0"/>
                </a:moveTo>
                <a:lnTo>
                  <a:pt x="5238750" y="0"/>
                </a:lnTo>
                <a:lnTo>
                  <a:pt x="52387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52625" y="2666702"/>
            <a:ext cx="52387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control for connected appliances, designed to reduce waste and simplify everyday living.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95265" y="3232956"/>
            <a:ext cx="1376363" cy="271463"/>
          </a:xfrm>
          <a:custGeom>
            <a:avLst/>
            <a:gdLst/>
            <a:ahLst/>
            <a:cxnLst/>
            <a:rect l="l" t="t" r="r" b="b"/>
            <a:pathLst>
              <a:path w="1376363" h="271463">
                <a:moveTo>
                  <a:pt x="114299" y="0"/>
                </a:moveTo>
                <a:lnTo>
                  <a:pt x="1262063" y="0"/>
                </a:lnTo>
                <a:quadBezTo>
                  <a:pt x="1376363" y="0"/>
                  <a:pt x="1376363" y="114299"/>
                </a:quadBezTo>
                <a:lnTo>
                  <a:pt x="1376363" y="157163"/>
                </a:lnTo>
                <a:quadBezTo>
                  <a:pt x="1376363" y="271463"/>
                  <a:pt x="126206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694215" y="3232956"/>
            <a:ext cx="145294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Haneef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57652" y="3240490"/>
            <a:ext cx="1695450" cy="271463"/>
          </a:xfrm>
          <a:custGeom>
            <a:avLst/>
            <a:gdLst/>
            <a:ahLst/>
            <a:cxnLst/>
            <a:rect l="l" t="t" r="r" b="b"/>
            <a:pathLst>
              <a:path w="1695450" h="271463">
                <a:moveTo>
                  <a:pt x="114299" y="0"/>
                </a:moveTo>
                <a:lnTo>
                  <a:pt x="1581151" y="0"/>
                </a:lnTo>
                <a:quadBezTo>
                  <a:pt x="1695450" y="0"/>
                  <a:pt x="1695450" y="114299"/>
                </a:quadBezTo>
                <a:lnTo>
                  <a:pt x="1695450" y="157163"/>
                </a:lnTo>
                <a:quadBezTo>
                  <a:pt x="1695450" y="271463"/>
                  <a:pt x="1581151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147161" y="3240389"/>
            <a:ext cx="16954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Farmanullah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839126" y="3216542"/>
            <a:ext cx="709613" cy="271463"/>
          </a:xfrm>
          <a:custGeom>
            <a:avLst/>
            <a:gdLst/>
            <a:ahLst/>
            <a:cxnLst/>
            <a:rect l="l" t="t" r="r" b="b"/>
            <a:pathLst>
              <a:path w="709613" h="271463">
                <a:moveTo>
                  <a:pt x="114299" y="0"/>
                </a:moveTo>
                <a:lnTo>
                  <a:pt x="595313" y="0"/>
                </a:lnTo>
                <a:quadBezTo>
                  <a:pt x="709613" y="0"/>
                  <a:pt x="709613" y="114299"/>
                </a:quadBezTo>
                <a:lnTo>
                  <a:pt x="709613" y="157163"/>
                </a:lnTo>
                <a:quadBezTo>
                  <a:pt x="709613" y="271463"/>
                  <a:pt x="59531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946056" y="3232956"/>
            <a:ext cx="7096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Kavin JG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4728195"/>
            <a:ext cx="304800" cy="19050"/>
          </a:xfrm>
          <a:custGeom>
            <a:avLst/>
            <a:gdLst/>
            <a:ahLst/>
            <a:cxnLst/>
            <a:rect l="l" t="t" r="r" b="b"/>
            <a:pathLst>
              <a:path w="304800" h="19050">
                <a:moveTo>
                  <a:pt x="0" y="0"/>
                </a:moveTo>
                <a:lnTo>
                  <a:pt x="304800" y="0"/>
                </a:lnTo>
                <a:lnTo>
                  <a:pt x="3048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379" y="4675826"/>
            <a:ext cx="2024062" cy="123825"/>
          </a:xfrm>
          <a:custGeom>
            <a:avLst/>
            <a:gdLst/>
            <a:ahLst/>
            <a:cxnLst/>
            <a:rect l="l" t="t" r="r" b="b"/>
            <a:pathLst>
              <a:path w="2024062" h="123825">
                <a:moveTo>
                  <a:pt x="0" y="0"/>
                </a:moveTo>
                <a:lnTo>
                  <a:pt x="2024062" y="0"/>
                </a:lnTo>
                <a:lnTo>
                  <a:pt x="202406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42379" y="4675826"/>
            <a:ext cx="20240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HOME AUTOMATION HUB</a:t>
            </a:r>
            <a:endParaRPr lang="en-US" sz="9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C6E611-C3CC-1ADF-C914-3D3B80BBBA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62899"/>
            <a:ext cx="6286500" cy="123825"/>
          </a:xfrm>
          <a:custGeom>
            <a:avLst/>
            <a:gdLst/>
            <a:ahLst/>
            <a:cxnLst/>
            <a:rect l="l" t="t" r="r" b="b"/>
            <a:pathLst>
              <a:path w="6286500" h="123825">
                <a:moveTo>
                  <a:pt x="0" y="0"/>
                </a:moveTo>
                <a:lnTo>
                  <a:pt x="6286500" y="0"/>
                </a:lnTo>
                <a:lnTo>
                  <a:pt x="62865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62899"/>
            <a:ext cx="6286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73584"/>
            <a:ext cx="4667250" cy="666750"/>
          </a:xfrm>
          <a:custGeom>
            <a:avLst/>
            <a:gdLst/>
            <a:ahLst/>
            <a:cxnLst/>
            <a:rect l="l" t="t" r="r" b="b"/>
            <a:pathLst>
              <a:path w="4667250" h="666750">
                <a:moveTo>
                  <a:pt x="0" y="0"/>
                </a:moveTo>
                <a:lnTo>
                  <a:pt x="4667250" y="0"/>
                </a:lnTo>
                <a:lnTo>
                  <a:pt x="4667250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73584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flow for the engineering review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326244"/>
            <a:ext cx="5334000" cy="385763"/>
          </a:xfrm>
          <a:custGeom>
            <a:avLst/>
            <a:gdLst/>
            <a:ahLst/>
            <a:cxnLst/>
            <a:rect l="l" t="t" r="r" b="b"/>
            <a:pathLst>
              <a:path w="5334000" h="385763">
                <a:moveTo>
                  <a:pt x="0" y="0"/>
                </a:moveTo>
                <a:lnTo>
                  <a:pt x="5334000" y="0"/>
                </a:lnTo>
                <a:lnTo>
                  <a:pt x="53340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326244"/>
            <a:ext cx="5334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the problem context to the implementation results, this presentation follows the full system story.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200789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9600" y="218825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54932"/>
            <a:ext cx="133350" cy="1333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2099" y="2233482"/>
            <a:ext cx="1647825" cy="176212"/>
          </a:xfrm>
          <a:custGeom>
            <a:avLst/>
            <a:gdLst/>
            <a:ahLst/>
            <a:cxnLst/>
            <a:rect l="l" t="t" r="r" b="b"/>
            <a:pathLst>
              <a:path w="1647825" h="176212">
                <a:moveTo>
                  <a:pt x="0" y="0"/>
                </a:moveTo>
                <a:lnTo>
                  <a:pt x="1647825" y="0"/>
                </a:lnTo>
                <a:lnTo>
                  <a:pt x="16478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62099" y="2233482"/>
            <a:ext cx="16478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600" y="2551137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09600" y="2551137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the pain point, why it matters, and the motivation behind the smart-home automation hub.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67250" y="200789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5F8FC"/>
          </a:solidFill>
          <a:ln/>
          <a:effectLst>
            <a:outerShdw blurRad="161925" dist="6667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57750" y="218825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425" y="2254932"/>
            <a:ext cx="133350" cy="1333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210231" y="2233482"/>
            <a:ext cx="1814513" cy="176212"/>
          </a:xfrm>
          <a:custGeom>
            <a:avLst/>
            <a:gdLst/>
            <a:ahLst/>
            <a:cxnLst/>
            <a:rect l="l" t="t" r="r" b="b"/>
            <a:pathLst>
              <a:path w="1814513" h="176212">
                <a:moveTo>
                  <a:pt x="0" y="0"/>
                </a:moveTo>
                <a:lnTo>
                  <a:pt x="1814513" y="0"/>
                </a:lnTo>
                <a:lnTo>
                  <a:pt x="181451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210231" y="2233482"/>
            <a:ext cx="181451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 and scope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857750" y="2551137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4857750" y="2551137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Clarify what the system will achieve, the boundaries of the build, and the success criteria.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100" y="349980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5F8FC"/>
          </a:solidFill>
          <a:ln/>
          <a:effectLst>
            <a:outerShdw blurRad="161925" dist="6667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09600" y="368014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746823"/>
            <a:ext cx="133350" cy="13335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1951" y="3725374"/>
            <a:ext cx="2157413" cy="176212"/>
          </a:xfrm>
          <a:custGeom>
            <a:avLst/>
            <a:gdLst/>
            <a:ahLst/>
            <a:cxnLst/>
            <a:rect l="l" t="t" r="r" b="b"/>
            <a:pathLst>
              <a:path w="2157413" h="176212">
                <a:moveTo>
                  <a:pt x="0" y="0"/>
                </a:moveTo>
                <a:lnTo>
                  <a:pt x="2157413" y="0"/>
                </a:lnTo>
                <a:lnTo>
                  <a:pt x="215741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961951" y="3725374"/>
            <a:ext cx="215741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and method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9600" y="4043028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609600" y="4043028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 through the module layout, signal flow, and methodology used to design the control system.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667250" y="349980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857750" y="368014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3746823"/>
            <a:ext cx="133350" cy="13335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210994" y="3725374"/>
            <a:ext cx="2362200" cy="176212"/>
          </a:xfrm>
          <a:custGeom>
            <a:avLst/>
            <a:gdLst/>
            <a:ahLst/>
            <a:cxnLst/>
            <a:rect l="l" t="t" r="r" b="b"/>
            <a:pathLst>
              <a:path w="2362200" h="176212">
                <a:moveTo>
                  <a:pt x="0" y="0"/>
                </a:moveTo>
                <a:lnTo>
                  <a:pt x="2362200" y="0"/>
                </a:lnTo>
                <a:lnTo>
                  <a:pt x="23622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5210994" y="3725374"/>
            <a:ext cx="23622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and results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857750" y="4043028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4857750" y="4043028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build outcome, testing evidence, and the final results that support the evaluation.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9342C85-0C53-ED43-7D02-B6FC4FC945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952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7" name="Shape 4"/>
          <p:cNvSpPr/>
          <p:nvPr/>
        </p:nvSpPr>
        <p:spPr>
          <a:xfrm>
            <a:off x="544024" y="342900"/>
            <a:ext cx="2328863" cy="171450"/>
          </a:xfrm>
          <a:custGeom>
            <a:avLst/>
            <a:gdLst/>
            <a:ahLst/>
            <a:cxnLst/>
            <a:rect l="l" t="t" r="r" b="b"/>
            <a:pathLst>
              <a:path w="2328863" h="171450">
                <a:moveTo>
                  <a:pt x="0" y="0"/>
                </a:moveTo>
                <a:lnTo>
                  <a:pt x="2328863" y="0"/>
                </a:lnTo>
                <a:lnTo>
                  <a:pt x="232886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4024" y="342900"/>
            <a:ext cx="23288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 PROBLEM FRAMING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100" y="581881"/>
            <a:ext cx="4667250" cy="328613"/>
          </a:xfrm>
          <a:custGeom>
            <a:avLst/>
            <a:gdLst/>
            <a:ahLst/>
            <a:cxnLst/>
            <a:rect l="l" t="t" r="r" b="b"/>
            <a:pathLst>
              <a:path w="4667250" h="328613">
                <a:moveTo>
                  <a:pt x="0" y="0"/>
                </a:moveTo>
                <a:lnTo>
                  <a:pt x="4667250" y="0"/>
                </a:lnTo>
                <a:lnTo>
                  <a:pt x="466725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19100" y="581881"/>
            <a:ext cx="46672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9100" y="978098"/>
            <a:ext cx="5619750" cy="414338"/>
          </a:xfrm>
          <a:custGeom>
            <a:avLst/>
            <a:gdLst/>
            <a:ahLst/>
            <a:cxnLst/>
            <a:rect l="l" t="t" r="r" b="b"/>
            <a:pathLst>
              <a:path w="5619750" h="414338">
                <a:moveTo>
                  <a:pt x="0" y="0"/>
                </a:moveTo>
                <a:lnTo>
                  <a:pt x="5619750" y="0"/>
                </a:lnTo>
                <a:lnTo>
                  <a:pt x="5619750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9100" y="978098"/>
            <a:ext cx="5619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Households waste energy because usage is visible only at the whole-home level, leaving control reactive instead of intelligent.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9100" y="1460040"/>
            <a:ext cx="4643438" cy="3648075"/>
          </a:xfrm>
          <a:custGeom>
            <a:avLst/>
            <a:gdLst/>
            <a:ahLst/>
            <a:cxnLst/>
            <a:rect l="l" t="t" r="r" b="b"/>
            <a:pathLst>
              <a:path w="4643438" h="3648075">
                <a:moveTo>
                  <a:pt x="33416" y="0"/>
                </a:moveTo>
                <a:lnTo>
                  <a:pt x="4610021" y="0"/>
                </a:lnTo>
                <a:quadBezTo>
                  <a:pt x="4643438" y="0"/>
                  <a:pt x="4643438" y="33416"/>
                </a:quadBezTo>
                <a:lnTo>
                  <a:pt x="4643438" y="3614659"/>
                </a:lnTo>
                <a:quadBezTo>
                  <a:pt x="4643438" y="3648075"/>
                  <a:pt x="4610021" y="3648075"/>
                </a:quadBezTo>
                <a:lnTo>
                  <a:pt x="33416" y="3648075"/>
                </a:lnTo>
                <a:quadBezTo>
                  <a:pt x="0" y="3648075"/>
                  <a:pt x="0" y="3614659"/>
                </a:quadBezTo>
                <a:lnTo>
                  <a:pt x="0" y="33416"/>
                </a:lnTo>
                <a:quadBezTo>
                  <a:pt x="0" y="0"/>
                  <a:pt x="3341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13500000" algn="bl" rotWithShape="0">
              <a:srgbClr val="E2E8F0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628650" y="187828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921148"/>
            <a:ext cx="85725" cy="857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86290" y="1878509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86290" y="1878509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household electricity consumption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86290" y="2093491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86290" y="2093491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keeps climbing, increasing the pressure to manage loads more intelligently.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8650" y="255113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2594000"/>
            <a:ext cx="85725" cy="857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86290" y="2551361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86290" y="2551361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visibility of appliance-level usage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86290" y="2766343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886290" y="2766343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appliance-level insight, waste remains hidden and difficult to diagnose.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8650" y="322398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3266851"/>
            <a:ext cx="85725" cy="8572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86290" y="3224213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86290" y="3224213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control causes energy wastage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86290" y="3439196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86290" y="3439196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intervention is too slow, inconsistent, and dependent on attention.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22380" y="4339270"/>
            <a:ext cx="4224337" cy="604837"/>
          </a:xfrm>
          <a:custGeom>
            <a:avLst/>
            <a:gdLst/>
            <a:ahLst/>
            <a:cxnLst/>
            <a:rect l="l" t="t" r="r" b="b"/>
            <a:pathLst>
              <a:path w="4224337" h="604837">
                <a:moveTo>
                  <a:pt x="158401" y="0"/>
                </a:moveTo>
                <a:lnTo>
                  <a:pt x="4065937" y="0"/>
                </a:lnTo>
                <a:quadBezTo>
                  <a:pt x="4224337" y="0"/>
                  <a:pt x="4224337" y="158401"/>
                </a:quadBezTo>
                <a:lnTo>
                  <a:pt x="4224337" y="446437"/>
                </a:lnTo>
                <a:quadBezTo>
                  <a:pt x="4224337" y="604837"/>
                  <a:pt x="4065937" y="604837"/>
                </a:quadBezTo>
                <a:lnTo>
                  <a:pt x="158401" y="604837"/>
                </a:lnTo>
                <a:quadBezTo>
                  <a:pt x="0" y="604837"/>
                  <a:pt x="0" y="446437"/>
                </a:quadBezTo>
                <a:lnTo>
                  <a:pt x="0" y="158401"/>
                </a:lnTo>
                <a:quadBezTo>
                  <a:pt x="0" y="0"/>
                  <a:pt x="1584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3" name="Shape 27"/>
          <p:cNvSpPr/>
          <p:nvPr/>
        </p:nvSpPr>
        <p:spPr>
          <a:xfrm>
            <a:off x="762000" y="4643177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681277"/>
            <a:ext cx="85725" cy="85725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00590" y="4644107"/>
            <a:ext cx="3719512" cy="357188"/>
          </a:xfrm>
          <a:custGeom>
            <a:avLst/>
            <a:gdLst/>
            <a:ahLst/>
            <a:cxnLst/>
            <a:rect l="l" t="t" r="r" b="b"/>
            <a:pathLst>
              <a:path w="3719512" h="357188">
                <a:moveTo>
                  <a:pt x="0" y="0"/>
                </a:moveTo>
                <a:lnTo>
                  <a:pt x="3719512" y="0"/>
                </a:lnTo>
                <a:lnTo>
                  <a:pt x="37195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962025" y="4443412"/>
            <a:ext cx="37195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gap is not just consumption — it is the lack of timely, appliance-aware automation.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278601" y="1400175"/>
            <a:ext cx="3433762" cy="3648075"/>
          </a:xfrm>
          <a:custGeom>
            <a:avLst/>
            <a:gdLst/>
            <a:ahLst/>
            <a:cxnLst/>
            <a:rect l="l" t="t" r="r" b="b"/>
            <a:pathLst>
              <a:path w="3433762" h="3648075">
                <a:moveTo>
                  <a:pt x="35505" y="0"/>
                </a:moveTo>
                <a:lnTo>
                  <a:pt x="3398257" y="0"/>
                </a:lnTo>
                <a:quadBezTo>
                  <a:pt x="3433762" y="0"/>
                  <a:pt x="3433762" y="35505"/>
                </a:quadBezTo>
                <a:lnTo>
                  <a:pt x="3433762" y="3612570"/>
                </a:lnTo>
                <a:quadBezTo>
                  <a:pt x="3433762" y="3648075"/>
                  <a:pt x="3398257" y="3648075"/>
                </a:quadBezTo>
                <a:lnTo>
                  <a:pt x="35505" y="3648075"/>
                </a:lnTo>
                <a:quadBezTo>
                  <a:pt x="0" y="3648075"/>
                  <a:pt x="0" y="3612570"/>
                </a:quadBezTo>
                <a:lnTo>
                  <a:pt x="0" y="35505"/>
                </a:lnTo>
                <a:quadBezTo>
                  <a:pt x="0" y="0"/>
                  <a:pt x="35505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38" name="Shape 31"/>
          <p:cNvSpPr/>
          <p:nvPr/>
        </p:nvSpPr>
        <p:spPr>
          <a:xfrm>
            <a:off x="5472579" y="1878286"/>
            <a:ext cx="3071813" cy="171450"/>
          </a:xfrm>
          <a:custGeom>
            <a:avLst/>
            <a:gdLst/>
            <a:ahLst/>
            <a:cxnLst/>
            <a:rect l="l" t="t" r="r" b="b"/>
            <a:pathLst>
              <a:path w="3071813" h="171450">
                <a:moveTo>
                  <a:pt x="0" y="0"/>
                </a:moveTo>
                <a:lnTo>
                  <a:pt x="3071813" y="0"/>
                </a:lnTo>
                <a:lnTo>
                  <a:pt x="307181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5459575" y="1467781"/>
            <a:ext cx="307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9FD9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473043" y="2135831"/>
            <a:ext cx="1714500" cy="895350"/>
          </a:xfrm>
          <a:custGeom>
            <a:avLst/>
            <a:gdLst/>
            <a:ahLst/>
            <a:cxnLst/>
            <a:rect l="l" t="t" r="r" b="b"/>
            <a:pathLst>
              <a:path w="1714500" h="895350">
                <a:moveTo>
                  <a:pt x="0" y="0"/>
                </a:moveTo>
                <a:lnTo>
                  <a:pt x="1714500" y="0"/>
                </a:lnTo>
                <a:lnTo>
                  <a:pt x="1714500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5481638" y="1706837"/>
            <a:ext cx="17145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smarter home must sense, decide, and act automatically.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473043" y="3116312"/>
            <a:ext cx="1809750" cy="747712"/>
          </a:xfrm>
          <a:custGeom>
            <a:avLst/>
            <a:gdLst/>
            <a:ahLst/>
            <a:cxnLst/>
            <a:rect l="l" t="t" r="r" b="b"/>
            <a:pathLst>
              <a:path w="1809750" h="747712">
                <a:moveTo>
                  <a:pt x="0" y="0"/>
                </a:moveTo>
                <a:lnTo>
                  <a:pt x="1809750" y="0"/>
                </a:lnTo>
                <a:lnTo>
                  <a:pt x="1809750" y="747712"/>
                </a:lnTo>
                <a:lnTo>
                  <a:pt x="0" y="747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5481638" y="2703343"/>
            <a:ext cx="1809750" cy="74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CE9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 must translate raw energy data into precise control at the appliance level.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5459575" y="3553204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5" name="Shape 38"/>
          <p:cNvSpPr/>
          <p:nvPr/>
        </p:nvSpPr>
        <p:spPr>
          <a:xfrm>
            <a:off x="5574177" y="3708299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6" name="Shape 39"/>
          <p:cNvSpPr/>
          <p:nvPr/>
        </p:nvSpPr>
        <p:spPr>
          <a:xfrm>
            <a:off x="5729677" y="3968780"/>
            <a:ext cx="795338" cy="152400"/>
          </a:xfrm>
          <a:custGeom>
            <a:avLst/>
            <a:gdLst/>
            <a:ahLst/>
            <a:cxnLst/>
            <a:rect l="l" t="t" r="r" b="b"/>
            <a:pathLst>
              <a:path w="795338" h="152400">
                <a:moveTo>
                  <a:pt x="0" y="0"/>
                </a:moveTo>
                <a:lnTo>
                  <a:pt x="795338" y="0"/>
                </a:lnTo>
                <a:lnTo>
                  <a:pt x="7953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5731019" y="3657979"/>
            <a:ext cx="79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usage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472579" y="4035993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Shape 42"/>
          <p:cNvSpPr/>
          <p:nvPr/>
        </p:nvSpPr>
        <p:spPr>
          <a:xfrm>
            <a:off x="5577818" y="416183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50" name="Shape 43"/>
          <p:cNvSpPr/>
          <p:nvPr/>
        </p:nvSpPr>
        <p:spPr>
          <a:xfrm>
            <a:off x="5731019" y="4418354"/>
            <a:ext cx="1447800" cy="152400"/>
          </a:xfrm>
          <a:custGeom>
            <a:avLst/>
            <a:gdLst/>
            <a:ahLst/>
            <a:cxnLst/>
            <a:rect l="l" t="t" r="r" b="b"/>
            <a:pathLst>
              <a:path w="1447800" h="152400">
                <a:moveTo>
                  <a:pt x="0" y="0"/>
                </a:moveTo>
                <a:lnTo>
                  <a:pt x="1447800" y="0"/>
                </a:lnTo>
                <a:lnTo>
                  <a:pt x="144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5731019" y="407137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intervention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5472579" y="4501891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46"/>
          <p:cNvSpPr/>
          <p:nvPr/>
        </p:nvSpPr>
        <p:spPr>
          <a:xfrm>
            <a:off x="5577818" y="464407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54" name="Shape 47"/>
          <p:cNvSpPr/>
          <p:nvPr/>
        </p:nvSpPr>
        <p:spPr>
          <a:xfrm>
            <a:off x="5729790" y="4867927"/>
            <a:ext cx="1071563" cy="152400"/>
          </a:xfrm>
          <a:custGeom>
            <a:avLst/>
            <a:gdLst/>
            <a:ahLst/>
            <a:cxnLst/>
            <a:rect l="l" t="t" r="r" b="b"/>
            <a:pathLst>
              <a:path w="1071563" h="152400">
                <a:moveTo>
                  <a:pt x="0" y="0"/>
                </a:moveTo>
                <a:lnTo>
                  <a:pt x="1071563" y="0"/>
                </a:lnTo>
                <a:lnTo>
                  <a:pt x="10715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5729790" y="4602585"/>
            <a:ext cx="1071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wastage</a:t>
            </a:r>
            <a:endParaRPr lang="en-US" sz="9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34A280E-1D5E-8B3A-EB74-1A292FF0FA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91716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4"/>
          <p:cNvSpPr/>
          <p:nvPr/>
        </p:nvSpPr>
        <p:spPr>
          <a:xfrm>
            <a:off x="552450" y="357188"/>
            <a:ext cx="1429829" cy="135731"/>
          </a:xfrm>
          <a:custGeom>
            <a:avLst/>
            <a:gdLst/>
            <a:ahLst/>
            <a:cxnLst/>
            <a:rect l="l" t="t" r="r" b="b"/>
            <a:pathLst>
              <a:path w="1429829" h="135731">
                <a:moveTo>
                  <a:pt x="0" y="0"/>
                </a:moveTo>
                <a:lnTo>
                  <a:pt x="1429829" y="0"/>
                </a:lnTo>
                <a:lnTo>
                  <a:pt x="1429829" y="135731"/>
                </a:lnTo>
                <a:lnTo>
                  <a:pt x="0" y="1357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52450" y="357188"/>
            <a:ext cx="14298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100" y="592689"/>
            <a:ext cx="4667250" cy="981075"/>
          </a:xfrm>
          <a:custGeom>
            <a:avLst/>
            <a:gdLst/>
            <a:ahLst/>
            <a:cxnLst/>
            <a:rect l="l" t="t" r="r" b="b"/>
            <a:pathLst>
              <a:path w="4667250" h="981075">
                <a:moveTo>
                  <a:pt x="0" y="0"/>
                </a:moveTo>
                <a:lnTo>
                  <a:pt x="4667250" y="0"/>
                </a:lnTo>
                <a:lnTo>
                  <a:pt x="4667250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19100" y="592689"/>
            <a:ext cx="4667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home hub that balances control, visibility, and comfort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9100" y="1658522"/>
            <a:ext cx="5334000" cy="657225"/>
          </a:xfrm>
          <a:custGeom>
            <a:avLst/>
            <a:gdLst/>
            <a:ahLst/>
            <a:cxnLst/>
            <a:rect l="l" t="t" r="r" b="b"/>
            <a:pathLst>
              <a:path w="5334000" h="657225">
                <a:moveTo>
                  <a:pt x="0" y="0"/>
                </a:moveTo>
                <a:lnTo>
                  <a:pt x="5334000" y="0"/>
                </a:lnTo>
                <a:lnTo>
                  <a:pt x="533400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9100" y="1658522"/>
            <a:ext cx="53340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pillars guide the system: build a clean IoT automation core, expose energy use in real time, and optimize routines without sacrificing comfort.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8300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0550" y="3026233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092908"/>
            <a:ext cx="123825" cy="1238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23125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923125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hub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23125" y="3008151"/>
            <a:ext cx="1966912" cy="500063"/>
          </a:xfrm>
          <a:custGeom>
            <a:avLst/>
            <a:gdLst/>
            <a:ahLst/>
            <a:cxnLst/>
            <a:rect l="l" t="t" r="r" b="b"/>
            <a:pathLst>
              <a:path w="1966912" h="500063">
                <a:moveTo>
                  <a:pt x="0" y="0"/>
                </a:moveTo>
                <a:lnTo>
                  <a:pt x="1966912" y="0"/>
                </a:lnTo>
                <a:lnTo>
                  <a:pt x="1966912" y="500063"/>
                </a:lnTo>
                <a:lnTo>
                  <a:pt x="0" y="500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23125" y="3008151"/>
            <a:ext cx="196691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one intelligent control layer for lighting, appliances, and daily routines.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0550" y="3689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1" name="Shape 17"/>
          <p:cNvSpPr/>
          <p:nvPr/>
        </p:nvSpPr>
        <p:spPr>
          <a:xfrm>
            <a:off x="704050" y="3642680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04050" y="3642680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rules reduce manual switching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90550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4" name="Shape 20"/>
          <p:cNvSpPr/>
          <p:nvPr/>
        </p:nvSpPr>
        <p:spPr>
          <a:xfrm>
            <a:off x="704050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704050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enough to expand room by room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50388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90500" dist="85725" dir="2700000" algn="bl" rotWithShape="0">
              <a:srgbClr val="0B2E59">
                <a:alpha val="12157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422639" y="310980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0F8B8D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314" y="3176476"/>
            <a:ext cx="123825" cy="12382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755213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755213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visibility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755213" y="3008375"/>
            <a:ext cx="1966912" cy="666750"/>
          </a:xfrm>
          <a:custGeom>
            <a:avLst/>
            <a:gdLst/>
            <a:ahLst/>
            <a:cxnLst/>
            <a:rect l="l" t="t" r="r" b="b"/>
            <a:pathLst>
              <a:path w="1966912" h="666750">
                <a:moveTo>
                  <a:pt x="0" y="0"/>
                </a:moveTo>
                <a:lnTo>
                  <a:pt x="1966912" y="0"/>
                </a:lnTo>
                <a:lnTo>
                  <a:pt x="1966912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755213" y="3008375"/>
            <a:ext cx="19669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3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appliance consumption in real time to expose waste and usage patterns.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422639" y="3856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34" name="Shape 29"/>
          <p:cNvSpPr/>
          <p:nvPr/>
        </p:nvSpPr>
        <p:spPr>
          <a:xfrm>
            <a:off x="3536324" y="3809591"/>
            <a:ext cx="2171700" cy="166688"/>
          </a:xfrm>
          <a:custGeom>
            <a:avLst/>
            <a:gdLst/>
            <a:ahLst/>
            <a:cxnLst/>
            <a:rect l="l" t="t" r="r" b="b"/>
            <a:pathLst>
              <a:path w="2171700" h="166688">
                <a:moveTo>
                  <a:pt x="0" y="0"/>
                </a:moveTo>
                <a:lnTo>
                  <a:pt x="2171700" y="0"/>
                </a:lnTo>
                <a:lnTo>
                  <a:pt x="21717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3536324" y="3809591"/>
            <a:ext cx="21717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Spot high-load devices as they run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422639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37" name="Shape 32"/>
          <p:cNvSpPr/>
          <p:nvPr/>
        </p:nvSpPr>
        <p:spPr>
          <a:xfrm>
            <a:off x="3536138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3536138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data into clearer household decisions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082494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254725" y="310980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400" y="3176476"/>
            <a:ext cx="123825" cy="123825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587319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587319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first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587319" y="3008375"/>
            <a:ext cx="1966912" cy="666750"/>
          </a:xfrm>
          <a:custGeom>
            <a:avLst/>
            <a:gdLst/>
            <a:ahLst/>
            <a:cxnLst/>
            <a:rect l="l" t="t" r="r" b="b"/>
            <a:pathLst>
              <a:path w="1966912" h="666750">
                <a:moveTo>
                  <a:pt x="0" y="0"/>
                </a:moveTo>
                <a:lnTo>
                  <a:pt x="1966912" y="0"/>
                </a:lnTo>
                <a:lnTo>
                  <a:pt x="1966912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587319" y="3008375"/>
            <a:ext cx="19669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remote control and scheduling that improves efficiency without reducing comfort.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254725" y="3856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7" name="Shape 41"/>
          <p:cNvSpPr/>
          <p:nvPr/>
        </p:nvSpPr>
        <p:spPr>
          <a:xfrm>
            <a:off x="6368280" y="3809591"/>
            <a:ext cx="2109788" cy="166688"/>
          </a:xfrm>
          <a:custGeom>
            <a:avLst/>
            <a:gdLst/>
            <a:ahLst/>
            <a:cxnLst/>
            <a:rect l="l" t="t" r="r" b="b"/>
            <a:pathLst>
              <a:path w="2109788" h="166688">
                <a:moveTo>
                  <a:pt x="0" y="0"/>
                </a:moveTo>
                <a:lnTo>
                  <a:pt x="2109788" y="0"/>
                </a:lnTo>
                <a:lnTo>
                  <a:pt x="210978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6368280" y="3809591"/>
            <a:ext cx="21097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 appliances from anywhere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254725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50" name="Shape 44"/>
          <p:cNvSpPr/>
          <p:nvPr/>
        </p:nvSpPr>
        <p:spPr>
          <a:xfrm>
            <a:off x="6368244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6368244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schedules around real routines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7BA6939-4E64-0C1E-02C5-DE3772F67D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2900"/>
            <a:ext cx="6286500" cy="114300"/>
          </a:xfrm>
          <a:custGeom>
            <a:avLst/>
            <a:gdLst/>
            <a:ahLst/>
            <a:cxnLst/>
            <a:rect l="l" t="t" r="r" b="b"/>
            <a:pathLst>
              <a:path w="6286500" h="114300">
                <a:moveTo>
                  <a:pt x="0" y="0"/>
                </a:moveTo>
                <a:lnTo>
                  <a:pt x="6286500" y="0"/>
                </a:lnTo>
                <a:lnTo>
                  <a:pt x="6286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2900"/>
            <a:ext cx="628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SCOPE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22796"/>
            <a:ext cx="5238750" cy="623888"/>
          </a:xfrm>
          <a:custGeom>
            <a:avLst/>
            <a:gdLst/>
            <a:ahLst/>
            <a:cxnLst/>
            <a:rect l="l" t="t" r="r" b="b"/>
            <a:pathLst>
              <a:path w="5238750" h="623888">
                <a:moveTo>
                  <a:pt x="0" y="0"/>
                </a:moveTo>
                <a:lnTo>
                  <a:pt x="5238750" y="0"/>
                </a:lnTo>
                <a:lnTo>
                  <a:pt x="5238750" y="623888"/>
                </a:lnTo>
                <a:lnTo>
                  <a:pt x="0" y="623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22796"/>
            <a:ext cx="523875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and Functional Requirements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212278"/>
            <a:ext cx="5810250" cy="385763"/>
          </a:xfrm>
          <a:custGeom>
            <a:avLst/>
            <a:gdLst/>
            <a:ahLst/>
            <a:cxnLst/>
            <a:rect l="l" t="t" r="r" b="b"/>
            <a:pathLst>
              <a:path w="5810250" h="385763">
                <a:moveTo>
                  <a:pt x="0" y="0"/>
                </a:moveTo>
                <a:lnTo>
                  <a:pt x="5810250" y="0"/>
                </a:lnTo>
                <a:lnTo>
                  <a:pt x="5810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212278"/>
            <a:ext cx="581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centers on appliance control, context sensing, energy logging, and a user dashboard.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7984" y="1903920"/>
            <a:ext cx="4962525" cy="2895600"/>
          </a:xfrm>
          <a:custGeom>
            <a:avLst/>
            <a:gdLst/>
            <a:ahLst/>
            <a:cxnLst/>
            <a:rect l="l" t="t" r="r" b="b"/>
            <a:pathLst>
              <a:path w="4962525" h="2895600">
                <a:moveTo>
                  <a:pt x="42102" y="0"/>
                </a:moveTo>
                <a:lnTo>
                  <a:pt x="4920423" y="0"/>
                </a:lnTo>
                <a:quadBezTo>
                  <a:pt x="4962525" y="0"/>
                  <a:pt x="4962525" y="42102"/>
                </a:quadBezTo>
                <a:lnTo>
                  <a:pt x="4962525" y="2853498"/>
                </a:lnTo>
                <a:quadBezTo>
                  <a:pt x="4962525" y="2895600"/>
                  <a:pt x="4920423" y="2895600"/>
                </a:quadBezTo>
                <a:lnTo>
                  <a:pt x="42102" y="2895600"/>
                </a:lnTo>
                <a:quadBezTo>
                  <a:pt x="0" y="2895600"/>
                  <a:pt x="0" y="2853498"/>
                </a:quadBezTo>
                <a:lnTo>
                  <a:pt x="0" y="42102"/>
                </a:lnTo>
                <a:quadBezTo>
                  <a:pt x="0" y="0"/>
                  <a:pt x="4210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8650" y="2093342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40967"/>
            <a:ext cx="104775" cy="1047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3284" y="2092858"/>
            <a:ext cx="4257675" cy="195263"/>
          </a:xfrm>
          <a:custGeom>
            <a:avLst/>
            <a:gdLst/>
            <a:ahLst/>
            <a:cxnLst/>
            <a:rect l="l" t="t" r="r" b="b"/>
            <a:pathLst>
              <a:path w="4257675" h="195263">
                <a:moveTo>
                  <a:pt x="0" y="0"/>
                </a:moveTo>
                <a:lnTo>
                  <a:pt x="4257675" y="0"/>
                </a:lnTo>
                <a:lnTo>
                  <a:pt x="42576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13284" y="2092858"/>
            <a:ext cx="42576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Appliance switching and scheduling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13284" y="2325961"/>
            <a:ext cx="4257675" cy="166688"/>
          </a:xfrm>
          <a:custGeom>
            <a:avLst/>
            <a:gdLst/>
            <a:ahLst/>
            <a:cxnLst/>
            <a:rect l="l" t="t" r="r" b="b"/>
            <a:pathLst>
              <a:path w="4257675" h="166688">
                <a:moveTo>
                  <a:pt x="0" y="0"/>
                </a:moveTo>
                <a:lnTo>
                  <a:pt x="4257675" y="0"/>
                </a:lnTo>
                <a:lnTo>
                  <a:pt x="42576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913284" y="2325961"/>
            <a:ext cx="42576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control of connected loads with timed operation.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8650" y="259764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645272"/>
            <a:ext cx="104775" cy="1047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13284" y="2596679"/>
            <a:ext cx="4257675" cy="390525"/>
          </a:xfrm>
          <a:custGeom>
            <a:avLst/>
            <a:gdLst/>
            <a:ahLst/>
            <a:cxnLst/>
            <a:rect l="l" t="t" r="r" b="b"/>
            <a:pathLst>
              <a:path w="4257675" h="390525">
                <a:moveTo>
                  <a:pt x="0" y="0"/>
                </a:moveTo>
                <a:lnTo>
                  <a:pt x="4257675" y="0"/>
                </a:lnTo>
                <a:lnTo>
                  <a:pt x="4257675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13284" y="2596679"/>
            <a:ext cx="42576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Sensor-based occupancy and environment sensing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3284" y="3024783"/>
            <a:ext cx="4257675" cy="333375"/>
          </a:xfrm>
          <a:custGeom>
            <a:avLst/>
            <a:gdLst/>
            <a:ahLst/>
            <a:cxnLst/>
            <a:rect l="l" t="t" r="r" b="b"/>
            <a:pathLst>
              <a:path w="4257675" h="333375">
                <a:moveTo>
                  <a:pt x="0" y="0"/>
                </a:moveTo>
                <a:lnTo>
                  <a:pt x="4257675" y="0"/>
                </a:lnTo>
                <a:lnTo>
                  <a:pt x="42576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913284" y="3024783"/>
            <a:ext cx="42576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presence, temperature, and room conditions for context-aware control.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28650" y="3463379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511004"/>
            <a:ext cx="104775" cy="1047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3284" y="3462896"/>
            <a:ext cx="4257675" cy="195263"/>
          </a:xfrm>
          <a:custGeom>
            <a:avLst/>
            <a:gdLst/>
            <a:ahLst/>
            <a:cxnLst/>
            <a:rect l="l" t="t" r="r" b="b"/>
            <a:pathLst>
              <a:path w="4257675" h="195263">
                <a:moveTo>
                  <a:pt x="0" y="0"/>
                </a:moveTo>
                <a:lnTo>
                  <a:pt x="4257675" y="0"/>
                </a:lnTo>
                <a:lnTo>
                  <a:pt x="42576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913284" y="3462896"/>
            <a:ext cx="42576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data acquisition and logging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13284" y="3695998"/>
            <a:ext cx="4257675" cy="166688"/>
          </a:xfrm>
          <a:custGeom>
            <a:avLst/>
            <a:gdLst/>
            <a:ahLst/>
            <a:cxnLst/>
            <a:rect l="l" t="t" r="r" b="b"/>
            <a:pathLst>
              <a:path w="4257675" h="166688">
                <a:moveTo>
                  <a:pt x="0" y="0"/>
                </a:moveTo>
                <a:lnTo>
                  <a:pt x="4257675" y="0"/>
                </a:lnTo>
                <a:lnTo>
                  <a:pt x="42576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913284" y="3695998"/>
            <a:ext cx="42576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usage data and retain a clean operating record for review.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647209" y="1902991"/>
            <a:ext cx="3076575" cy="2000250"/>
          </a:xfrm>
          <a:custGeom>
            <a:avLst/>
            <a:gdLst/>
            <a:ahLst/>
            <a:cxnLst/>
            <a:rect l="l" t="t" r="r" b="b"/>
            <a:pathLst>
              <a:path w="3076575" h="2000250">
                <a:moveTo>
                  <a:pt x="60968" y="0"/>
                </a:moveTo>
                <a:lnTo>
                  <a:pt x="3015607" y="0"/>
                </a:lnTo>
                <a:quadBezTo>
                  <a:pt x="3076575" y="0"/>
                  <a:pt x="3076575" y="60968"/>
                </a:quadBezTo>
                <a:lnTo>
                  <a:pt x="3076575" y="1939282"/>
                </a:lnTo>
                <a:quadBezTo>
                  <a:pt x="3076575" y="2000250"/>
                  <a:pt x="3015607" y="2000250"/>
                </a:quadBezTo>
                <a:lnTo>
                  <a:pt x="60968" y="2000250"/>
                </a:lnTo>
                <a:quadBezTo>
                  <a:pt x="0" y="2000250"/>
                  <a:pt x="0" y="1939282"/>
                </a:quadBezTo>
                <a:lnTo>
                  <a:pt x="0" y="60968"/>
                </a:lnTo>
                <a:quadBezTo>
                  <a:pt x="0" y="0"/>
                  <a:pt x="60968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32" name="Shape 26"/>
          <p:cNvSpPr/>
          <p:nvPr/>
        </p:nvSpPr>
        <p:spPr>
          <a:xfrm>
            <a:off x="5837709" y="2093342"/>
            <a:ext cx="2695575" cy="114300"/>
          </a:xfrm>
          <a:custGeom>
            <a:avLst/>
            <a:gdLst/>
            <a:ahLst/>
            <a:cxnLst/>
            <a:rect l="l" t="t" r="r" b="b"/>
            <a:pathLst>
              <a:path w="2695575" h="114300">
                <a:moveTo>
                  <a:pt x="0" y="0"/>
                </a:moveTo>
                <a:lnTo>
                  <a:pt x="2695575" y="0"/>
                </a:lnTo>
                <a:lnTo>
                  <a:pt x="269557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5837709" y="2093342"/>
            <a:ext cx="2695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8FD3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VIEW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836594" y="2302892"/>
            <a:ext cx="2000250" cy="876300"/>
          </a:xfrm>
          <a:custGeom>
            <a:avLst/>
            <a:gdLst/>
            <a:ahLst/>
            <a:cxnLst/>
            <a:rect l="l" t="t" r="r" b="b"/>
            <a:pathLst>
              <a:path w="2000250" h="876300">
                <a:moveTo>
                  <a:pt x="0" y="0"/>
                </a:moveTo>
                <a:lnTo>
                  <a:pt x="2000250" y="0"/>
                </a:lnTo>
                <a:lnTo>
                  <a:pt x="2000250" y="876300"/>
                </a:lnTo>
                <a:lnTo>
                  <a:pt x="0" y="876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5836594" y="2302892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control layer connects sensing, action, and logging.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836594" y="3273922"/>
            <a:ext cx="2047875" cy="719137"/>
          </a:xfrm>
          <a:custGeom>
            <a:avLst/>
            <a:gdLst/>
            <a:ahLst/>
            <a:cxnLst/>
            <a:rect l="l" t="t" r="r" b="b"/>
            <a:pathLst>
              <a:path w="2047875" h="719137">
                <a:moveTo>
                  <a:pt x="0" y="0"/>
                </a:moveTo>
                <a:lnTo>
                  <a:pt x="2047875" y="0"/>
                </a:lnTo>
                <a:lnTo>
                  <a:pt x="20478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5836594" y="3273922"/>
            <a:ext cx="20478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dashboard is the operator interface, while sensors and controllers provide the feedback loop.</a:t>
            </a:r>
            <a:endParaRPr lang="en-US" sz="9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144938"/>
            <a:ext cx="104775" cy="10477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009122" y="4126836"/>
            <a:ext cx="2252663" cy="152400"/>
          </a:xfrm>
          <a:custGeom>
            <a:avLst/>
            <a:gdLst/>
            <a:ahLst/>
            <a:cxnLst/>
            <a:rect l="l" t="t" r="r" b="b"/>
            <a:pathLst>
              <a:path w="2252663" h="152400">
                <a:moveTo>
                  <a:pt x="0" y="0"/>
                </a:moveTo>
                <a:lnTo>
                  <a:pt x="2252663" y="0"/>
                </a:lnTo>
                <a:lnTo>
                  <a:pt x="22526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6009122" y="4126836"/>
            <a:ext cx="2252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and web access for user control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375434"/>
            <a:ext cx="104775" cy="104775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6009159" y="4355902"/>
            <a:ext cx="2524125" cy="309562"/>
          </a:xfrm>
          <a:custGeom>
            <a:avLst/>
            <a:gdLst/>
            <a:ahLst/>
            <a:cxnLst/>
            <a:rect l="l" t="t" r="r" b="b"/>
            <a:pathLst>
              <a:path w="2524125" h="309562">
                <a:moveTo>
                  <a:pt x="0" y="0"/>
                </a:moveTo>
                <a:lnTo>
                  <a:pt x="2524125" y="0"/>
                </a:lnTo>
                <a:lnTo>
                  <a:pt x="25241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6009159" y="4355902"/>
            <a:ext cx="2524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visibility across devices and events</a:t>
            </a:r>
            <a:endParaRPr lang="en-US" sz="9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760231"/>
            <a:ext cx="104775" cy="104775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009159" y="4740697"/>
            <a:ext cx="2524125" cy="309562"/>
          </a:xfrm>
          <a:custGeom>
            <a:avLst/>
            <a:gdLst/>
            <a:ahLst/>
            <a:cxnLst/>
            <a:rect l="l" t="t" r="r" b="b"/>
            <a:pathLst>
              <a:path w="2524125" h="309562">
                <a:moveTo>
                  <a:pt x="0" y="0"/>
                </a:moveTo>
                <a:lnTo>
                  <a:pt x="2524125" y="0"/>
                </a:lnTo>
                <a:lnTo>
                  <a:pt x="25241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6009159" y="4740697"/>
            <a:ext cx="2524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for engineering review and implementation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647209" y="4037670"/>
            <a:ext cx="3076575" cy="762000"/>
          </a:xfrm>
          <a:custGeom>
            <a:avLst/>
            <a:gdLst/>
            <a:ahLst/>
            <a:cxnLst/>
            <a:rect l="l" t="t" r="r" b="b"/>
            <a:pathLst>
              <a:path w="3076575" h="762000">
                <a:moveTo>
                  <a:pt x="137160" y="0"/>
                </a:moveTo>
                <a:lnTo>
                  <a:pt x="2939415" y="0"/>
                </a:lnTo>
                <a:quadBezTo>
                  <a:pt x="3076575" y="0"/>
                  <a:pt x="3076575" y="137160"/>
                </a:quadBezTo>
                <a:lnTo>
                  <a:pt x="3076575" y="624840"/>
                </a:lnTo>
                <a:quadBezTo>
                  <a:pt x="3076575" y="762000"/>
                  <a:pt x="2939415" y="762000"/>
                </a:quadBezTo>
                <a:lnTo>
                  <a:pt x="137160" y="762000"/>
                </a:lnTo>
                <a:quadBezTo>
                  <a:pt x="0" y="762000"/>
                  <a:pt x="0" y="624840"/>
                </a:quadBezTo>
                <a:lnTo>
                  <a:pt x="0" y="137160"/>
                </a:lnTo>
                <a:quadBezTo>
                  <a:pt x="0" y="0"/>
                  <a:pt x="13716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5808019" y="417008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72189" y="0"/>
                </a:moveTo>
                <a:lnTo>
                  <a:pt x="108786" y="0"/>
                </a:lnTo>
                <a:quadBezTo>
                  <a:pt x="180975" y="0"/>
                  <a:pt x="180975" y="72189"/>
                </a:quadBezTo>
                <a:lnTo>
                  <a:pt x="180975" y="108786"/>
                </a:lnTo>
                <a:quadBezTo>
                  <a:pt x="180975" y="180975"/>
                  <a:pt x="108786" y="180975"/>
                </a:quadBezTo>
                <a:lnTo>
                  <a:pt x="72189" y="180975"/>
                </a:lnTo>
                <a:quadBezTo>
                  <a:pt x="0" y="180975"/>
                  <a:pt x="0" y="108786"/>
                </a:quadBezTo>
                <a:lnTo>
                  <a:pt x="0" y="72189"/>
                </a:lnTo>
                <a:quadBezTo>
                  <a:pt x="0" y="0"/>
                  <a:pt x="72189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880" y="4212952"/>
            <a:ext cx="95250" cy="95250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6066309" y="4171020"/>
            <a:ext cx="2495550" cy="495300"/>
          </a:xfrm>
          <a:custGeom>
            <a:avLst/>
            <a:gdLst/>
            <a:ahLst/>
            <a:cxnLst/>
            <a:rect l="l" t="t" r="r" b="b"/>
            <a:pathLst>
              <a:path w="2495550" h="495300">
                <a:moveTo>
                  <a:pt x="0" y="0"/>
                </a:moveTo>
                <a:lnTo>
                  <a:pt x="2495550" y="0"/>
                </a:lnTo>
                <a:lnTo>
                  <a:pt x="249555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6066309" y="417102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Together, these requirements define a closed-loop smart-home hub: sense, decide, act, and record.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8FC7094-9BE9-E8B0-C258-C2F5302C4B5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32478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6" name="Shape 3"/>
          <p:cNvSpPr/>
          <p:nvPr/>
        </p:nvSpPr>
        <p:spPr>
          <a:xfrm>
            <a:off x="485235" y="305749"/>
            <a:ext cx="1419225" cy="123825"/>
          </a:xfrm>
          <a:custGeom>
            <a:avLst/>
            <a:gdLst/>
            <a:ahLst/>
            <a:cxnLst/>
            <a:rect l="l" t="t" r="r" b="b"/>
            <a:pathLst>
              <a:path w="1419225" h="123825">
                <a:moveTo>
                  <a:pt x="0" y="0"/>
                </a:moveTo>
                <a:lnTo>
                  <a:pt x="1419225" y="0"/>
                </a:lnTo>
                <a:lnTo>
                  <a:pt x="14192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5235" y="305749"/>
            <a:ext cx="14192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2900" y="496528"/>
            <a:ext cx="5715000" cy="661987"/>
          </a:xfrm>
          <a:custGeom>
            <a:avLst/>
            <a:gdLst/>
            <a:ahLst/>
            <a:cxnLst/>
            <a:rect l="l" t="t" r="r" b="b"/>
            <a:pathLst>
              <a:path w="5715000" h="661987">
                <a:moveTo>
                  <a:pt x="0" y="0"/>
                </a:moveTo>
                <a:lnTo>
                  <a:pt x="5715000" y="0"/>
                </a:lnTo>
                <a:lnTo>
                  <a:pt x="5715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496528"/>
            <a:ext cx="5715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IoT approaches reveal the gap this project addresses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2900" y="1224521"/>
            <a:ext cx="6429375" cy="381000"/>
          </a:xfrm>
          <a:custGeom>
            <a:avLst/>
            <a:gdLst/>
            <a:ahLst/>
            <a:cxnLst/>
            <a:rect l="l" t="t" r="r" b="b"/>
            <a:pathLst>
              <a:path w="6429375" h="381000">
                <a:moveTo>
                  <a:pt x="0" y="0"/>
                </a:moveTo>
                <a:lnTo>
                  <a:pt x="6429375" y="0"/>
                </a:lnTo>
                <a:lnTo>
                  <a:pt x="6429375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42900" y="1224521"/>
            <a:ext cx="642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focused comparison of smart-home control, energy intelligence, and cloud-assisted automation shows where the proposed contribution becomes relevant.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2900" y="1891474"/>
            <a:ext cx="4124325" cy="2276475"/>
          </a:xfrm>
          <a:custGeom>
            <a:avLst/>
            <a:gdLst/>
            <a:ahLst/>
            <a:cxnLst/>
            <a:rect l="l" t="t" r="r" b="b"/>
            <a:pathLst>
              <a:path w="4124325" h="2276475">
                <a:moveTo>
                  <a:pt x="53565" y="0"/>
                </a:moveTo>
                <a:lnTo>
                  <a:pt x="4070760" y="0"/>
                </a:lnTo>
                <a:quadBezTo>
                  <a:pt x="4124325" y="0"/>
                  <a:pt x="4124325" y="53565"/>
                </a:quadBezTo>
                <a:lnTo>
                  <a:pt x="4124325" y="2222910"/>
                </a:lnTo>
                <a:quadBezTo>
                  <a:pt x="4124325" y="2276475"/>
                  <a:pt x="4070760" y="2276475"/>
                </a:quadBezTo>
                <a:lnTo>
                  <a:pt x="53565" y="2276475"/>
                </a:lnTo>
                <a:quadBezTo>
                  <a:pt x="0" y="2276475"/>
                  <a:pt x="0" y="2222910"/>
                </a:quadBezTo>
                <a:lnTo>
                  <a:pt x="0" y="53565"/>
                </a:lnTo>
                <a:quadBezTo>
                  <a:pt x="0" y="0"/>
                  <a:pt x="5356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9854"/>
            <a:ext cx="133350" cy="1333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3182" y="2071279"/>
            <a:ext cx="1824037" cy="190500"/>
          </a:xfrm>
          <a:custGeom>
            <a:avLst/>
            <a:gdLst/>
            <a:ahLst/>
            <a:cxnLst/>
            <a:rect l="l" t="t" r="r" b="b"/>
            <a:pathLst>
              <a:path w="1824037" h="190500">
                <a:moveTo>
                  <a:pt x="0" y="0"/>
                </a:moveTo>
                <a:lnTo>
                  <a:pt x="1824037" y="0"/>
                </a:lnTo>
                <a:lnTo>
                  <a:pt x="1824037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33182" y="2071279"/>
            <a:ext cx="18240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approaches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33400" y="2376060"/>
            <a:ext cx="3743325" cy="171450"/>
          </a:xfrm>
          <a:custGeom>
            <a:avLst/>
            <a:gdLst/>
            <a:ahLst/>
            <a:cxnLst/>
            <a:rect l="l" t="t" r="r" b="b"/>
            <a:pathLst>
              <a:path w="3743325" h="171450">
                <a:moveTo>
                  <a:pt x="0" y="0"/>
                </a:moveTo>
                <a:lnTo>
                  <a:pt x="3743325" y="0"/>
                </a:lnTo>
                <a:lnTo>
                  <a:pt x="37433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33400" y="2376060"/>
            <a:ext cx="3743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literature clusters into three recurring directions: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77046"/>
            <a:ext cx="95250" cy="952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5362" y="2643596"/>
            <a:ext cx="2428875" cy="176212"/>
          </a:xfrm>
          <a:custGeom>
            <a:avLst/>
            <a:gdLst/>
            <a:ahLst/>
            <a:cxnLst/>
            <a:rect l="l" t="t" r="r" b="b"/>
            <a:pathLst>
              <a:path w="2428875" h="176212">
                <a:moveTo>
                  <a:pt x="0" y="0"/>
                </a:moveTo>
                <a:lnTo>
                  <a:pt x="2428875" y="0"/>
                </a:lnTo>
                <a:lnTo>
                  <a:pt x="24288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95362" y="2643596"/>
            <a:ext cx="24288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smart-home control frameworks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38760"/>
            <a:ext cx="95250" cy="952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5716" y="2905310"/>
            <a:ext cx="3038475" cy="176212"/>
          </a:xfrm>
          <a:custGeom>
            <a:avLst/>
            <a:gdLst/>
            <a:ahLst/>
            <a:cxnLst/>
            <a:rect l="l" t="t" r="r" b="b"/>
            <a:pathLst>
              <a:path w="3038475" h="176212">
                <a:moveTo>
                  <a:pt x="0" y="0"/>
                </a:moveTo>
                <a:lnTo>
                  <a:pt x="3038475" y="0"/>
                </a:lnTo>
                <a:lnTo>
                  <a:pt x="30384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95716" y="2905310"/>
            <a:ext cx="30384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Energy-monitoring and load-forecast studies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00474"/>
            <a:ext cx="95250" cy="952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95623" y="3167024"/>
            <a:ext cx="3086100" cy="176212"/>
          </a:xfrm>
          <a:custGeom>
            <a:avLst/>
            <a:gdLst/>
            <a:ahLst/>
            <a:cxnLst/>
            <a:rect l="l" t="t" r="r" b="b"/>
            <a:pathLst>
              <a:path w="3086100" h="176212">
                <a:moveTo>
                  <a:pt x="0" y="0"/>
                </a:moveTo>
                <a:lnTo>
                  <a:pt x="3086100" y="0"/>
                </a:lnTo>
                <a:lnTo>
                  <a:pt x="30861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695623" y="3167024"/>
            <a:ext cx="30861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Cloud-assisted home automation approaches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33400" y="3582852"/>
            <a:ext cx="3743325" cy="414338"/>
          </a:xfrm>
          <a:custGeom>
            <a:avLst/>
            <a:gdLst/>
            <a:ahLst/>
            <a:cxnLst/>
            <a:rect l="l" t="t" r="r" b="b"/>
            <a:pathLst>
              <a:path w="3743325" h="414338">
                <a:moveTo>
                  <a:pt x="0" y="0"/>
                </a:moveTo>
                <a:lnTo>
                  <a:pt x="3743325" y="0"/>
                </a:lnTo>
                <a:lnTo>
                  <a:pt x="3743325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33400" y="3582852"/>
            <a:ext cx="37433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on individual functions, but rarely unified into one end-to-end framework.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76775" y="1891474"/>
            <a:ext cx="4124325" cy="2276475"/>
          </a:xfrm>
          <a:custGeom>
            <a:avLst/>
            <a:gdLst/>
            <a:ahLst/>
            <a:cxnLst/>
            <a:rect l="l" t="t" r="r" b="b"/>
            <a:pathLst>
              <a:path w="4124325" h="2276475">
                <a:moveTo>
                  <a:pt x="53565" y="0"/>
                </a:moveTo>
                <a:lnTo>
                  <a:pt x="4070760" y="0"/>
                </a:lnTo>
                <a:quadBezTo>
                  <a:pt x="4124325" y="0"/>
                  <a:pt x="4124325" y="53565"/>
                </a:quadBezTo>
                <a:lnTo>
                  <a:pt x="4124325" y="2222910"/>
                </a:lnTo>
                <a:quadBezTo>
                  <a:pt x="4124325" y="2276475"/>
                  <a:pt x="4070760" y="2276475"/>
                </a:quadBezTo>
                <a:lnTo>
                  <a:pt x="53565" y="2276475"/>
                </a:lnTo>
                <a:quadBezTo>
                  <a:pt x="0" y="2276475"/>
                  <a:pt x="0" y="2222910"/>
                </a:quadBezTo>
                <a:lnTo>
                  <a:pt x="0" y="53565"/>
                </a:lnTo>
                <a:quadBezTo>
                  <a:pt x="0" y="0"/>
                  <a:pt x="53565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52400" dist="66675" dir="2700000" algn="bl" rotWithShape="0">
              <a:srgbClr val="0B2E59">
                <a:alpha val="14118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275" y="2099854"/>
            <a:ext cx="133350" cy="13335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67691" y="2071279"/>
            <a:ext cx="1666875" cy="190500"/>
          </a:xfrm>
          <a:custGeom>
            <a:avLst/>
            <a:gdLst/>
            <a:ahLst/>
            <a:cxnLst/>
            <a:rect l="l" t="t" r="r" b="b"/>
            <a:pathLst>
              <a:path w="1666875" h="190500">
                <a:moveTo>
                  <a:pt x="0" y="0"/>
                </a:moveTo>
                <a:lnTo>
                  <a:pt x="1666875" y="0"/>
                </a:lnTo>
                <a:lnTo>
                  <a:pt x="166687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5067691" y="207127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and relevance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867275" y="2374627"/>
            <a:ext cx="3743325" cy="347663"/>
          </a:xfrm>
          <a:custGeom>
            <a:avLst/>
            <a:gdLst/>
            <a:ahLst/>
            <a:cxnLst/>
            <a:rect l="l" t="t" r="r" b="b"/>
            <a:pathLst>
              <a:path w="3743325" h="347663">
                <a:moveTo>
                  <a:pt x="0" y="0"/>
                </a:moveTo>
                <a:lnTo>
                  <a:pt x="3743325" y="0"/>
                </a:lnTo>
                <a:lnTo>
                  <a:pt x="3743325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4867275" y="2374627"/>
            <a:ext cx="374332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contribution is relevant because the literature is fragmented: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275" y="2850393"/>
            <a:ext cx="95250" cy="9525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029200" y="2816833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5029200" y="2816833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Control, sensing, and optimization are often treated separately.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7275" y="3288097"/>
            <a:ext cx="95250" cy="9525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5029200" y="3254536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0"/>
          <p:cNvSpPr/>
          <p:nvPr/>
        </p:nvSpPr>
        <p:spPr>
          <a:xfrm>
            <a:off x="5029200" y="3254536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insight and automation are not always linked in one workflow.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3725800"/>
            <a:ext cx="95250" cy="9525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5029200" y="3692241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2"/>
          <p:cNvSpPr/>
          <p:nvPr/>
        </p:nvSpPr>
        <p:spPr>
          <a:xfrm>
            <a:off x="5029200" y="3692241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positions a more integrated smart-home framework.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342900" y="4358171"/>
            <a:ext cx="8458200" cy="519112"/>
          </a:xfrm>
          <a:custGeom>
            <a:avLst/>
            <a:gdLst/>
            <a:ahLst/>
            <a:cxnLst/>
            <a:rect l="l" t="t" r="r" b="b"/>
            <a:pathLst>
              <a:path w="8458200" h="519112">
                <a:moveTo>
                  <a:pt x="184560" y="0"/>
                </a:moveTo>
                <a:lnTo>
                  <a:pt x="8273640" y="0"/>
                </a:lnTo>
                <a:quadBezTo>
                  <a:pt x="8458200" y="0"/>
                  <a:pt x="8458200" y="184560"/>
                </a:quadBezTo>
                <a:lnTo>
                  <a:pt x="8458200" y="334552"/>
                </a:lnTo>
                <a:quadBezTo>
                  <a:pt x="8458200" y="519112"/>
                  <a:pt x="8273640" y="519112"/>
                </a:quadBezTo>
                <a:lnTo>
                  <a:pt x="184560" y="519112"/>
                </a:lnTo>
                <a:quadBezTo>
                  <a:pt x="0" y="519112"/>
                  <a:pt x="0" y="334552"/>
                </a:quadBezTo>
                <a:lnTo>
                  <a:pt x="0" y="184560"/>
                </a:lnTo>
                <a:quadBezTo>
                  <a:pt x="0" y="0"/>
                  <a:pt x="18456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560578"/>
            <a:ext cx="114300" cy="11430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47849" y="4539146"/>
            <a:ext cx="466725" cy="157163"/>
          </a:xfrm>
          <a:custGeom>
            <a:avLst/>
            <a:gdLst/>
            <a:ahLst/>
            <a:cxnLst/>
            <a:rect l="l" t="t" r="r" b="b"/>
            <a:pathLst>
              <a:path w="466725" h="157163">
                <a:moveTo>
                  <a:pt x="0" y="0"/>
                </a:moveTo>
                <a:lnTo>
                  <a:pt x="466725" y="0"/>
                </a:lnTo>
                <a:lnTo>
                  <a:pt x="4667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7"/>
          <p:cNvSpPr/>
          <p:nvPr/>
        </p:nvSpPr>
        <p:spPr>
          <a:xfrm>
            <a:off x="647849" y="4539146"/>
            <a:ext cx="466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2571750" y="4462946"/>
            <a:ext cx="6096000" cy="309562"/>
          </a:xfrm>
          <a:custGeom>
            <a:avLst/>
            <a:gdLst/>
            <a:ahLst/>
            <a:cxnLst/>
            <a:rect l="l" t="t" r="r" b="b"/>
            <a:pathLst>
              <a:path w="6096000" h="309562">
                <a:moveTo>
                  <a:pt x="0" y="0"/>
                </a:moveTo>
                <a:lnTo>
                  <a:pt x="6096000" y="0"/>
                </a:lnTo>
                <a:lnTo>
                  <a:pt x="609600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39"/>
          <p:cNvSpPr/>
          <p:nvPr/>
        </p:nvSpPr>
        <p:spPr>
          <a:xfrm>
            <a:off x="2571750" y="4462946"/>
            <a:ext cx="60960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review motivates a project that connects smart-home control, energy awareness, and cloud-assisted automation in one coherent framework.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18B2A81-EC5A-1641-0EE1-C5B1659514F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43849"/>
            <a:ext cx="8382000" cy="123825"/>
          </a:xfrm>
          <a:custGeom>
            <a:avLst/>
            <a:gdLst/>
            <a:ahLst/>
            <a:cxnLst/>
            <a:rect l="l" t="t" r="r" b="b"/>
            <a:pathLst>
              <a:path w="8382000" h="123825">
                <a:moveTo>
                  <a:pt x="0" y="0"/>
                </a:moveTo>
                <a:lnTo>
                  <a:pt x="8382000" y="0"/>
                </a:lnTo>
                <a:lnTo>
                  <a:pt x="83820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43849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535093"/>
            <a:ext cx="5715000" cy="314325"/>
          </a:xfrm>
          <a:custGeom>
            <a:avLst/>
            <a:gdLst/>
            <a:ahLst/>
            <a:cxnLst/>
            <a:rect l="l" t="t" r="r" b="b"/>
            <a:pathLst>
              <a:path w="5715000" h="314325">
                <a:moveTo>
                  <a:pt x="0" y="0"/>
                </a:moveTo>
                <a:lnTo>
                  <a:pt x="5715000" y="0"/>
                </a:lnTo>
                <a:lnTo>
                  <a:pt x="5715000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35093"/>
            <a:ext cx="5715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System Overview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915888"/>
            <a:ext cx="5905500" cy="385763"/>
          </a:xfrm>
          <a:custGeom>
            <a:avLst/>
            <a:gdLst/>
            <a:ahLst/>
            <a:cxnLst/>
            <a:rect l="l" t="t" r="r" b="b"/>
            <a:pathLst>
              <a:path w="5905500" h="385763">
                <a:moveTo>
                  <a:pt x="0" y="0"/>
                </a:moveTo>
                <a:lnTo>
                  <a:pt x="5905500" y="0"/>
                </a:lnTo>
                <a:lnTo>
                  <a:pt x="59055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915888"/>
            <a:ext cx="5905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intelligent IoT hub connects sensing, automation, and live monitoring into one controlled home system.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2172" y="1866212"/>
            <a:ext cx="4124325" cy="2971800"/>
          </a:xfrm>
          <a:custGeom>
            <a:avLst/>
            <a:gdLst/>
            <a:ahLst/>
            <a:cxnLst/>
            <a:rect l="l" t="t" r="r" b="b"/>
            <a:pathLst>
              <a:path w="4124325" h="2971800">
                <a:moveTo>
                  <a:pt x="41041" y="0"/>
                </a:moveTo>
                <a:lnTo>
                  <a:pt x="4083284" y="0"/>
                </a:lnTo>
                <a:quadBezTo>
                  <a:pt x="4124325" y="0"/>
                  <a:pt x="4124325" y="41041"/>
                </a:quadBezTo>
                <a:lnTo>
                  <a:pt x="4124325" y="2930759"/>
                </a:lnTo>
                <a:quadBezTo>
                  <a:pt x="4124325" y="2971800"/>
                  <a:pt x="4083284" y="2971800"/>
                </a:quadBezTo>
                <a:lnTo>
                  <a:pt x="41041" y="2971800"/>
                </a:lnTo>
                <a:quadBezTo>
                  <a:pt x="0" y="2971800"/>
                  <a:pt x="0" y="2930759"/>
                </a:quadBezTo>
                <a:lnTo>
                  <a:pt x="0" y="41041"/>
                </a:lnTo>
                <a:quadBezTo>
                  <a:pt x="0" y="0"/>
                  <a:pt x="4104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85725" dir="2700000" algn="bl" rotWithShape="0">
              <a:srgbClr val="102A43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1025" y="2056023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69574" y="0"/>
                </a:moveTo>
                <a:lnTo>
                  <a:pt x="149501" y="0"/>
                </a:lnTo>
                <a:quadBezTo>
                  <a:pt x="219075" y="0"/>
                  <a:pt x="219075" y="69574"/>
                </a:quadBezTo>
                <a:lnTo>
                  <a:pt x="219075" y="149501"/>
                </a:lnTo>
                <a:quadBezTo>
                  <a:pt x="219075" y="219075"/>
                  <a:pt x="149501" y="219075"/>
                </a:quadBezTo>
                <a:lnTo>
                  <a:pt x="69574" y="219075"/>
                </a:lnTo>
                <a:quadBezTo>
                  <a:pt x="0" y="219075"/>
                  <a:pt x="0" y="149501"/>
                </a:quadBezTo>
                <a:lnTo>
                  <a:pt x="0" y="69574"/>
                </a:lnTo>
                <a:quadBezTo>
                  <a:pt x="0" y="0"/>
                  <a:pt x="6957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2108411"/>
            <a:ext cx="114300" cy="1143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86997" y="2056247"/>
            <a:ext cx="3419475" cy="185738"/>
          </a:xfrm>
          <a:custGeom>
            <a:avLst/>
            <a:gdLst/>
            <a:ahLst/>
            <a:cxnLst/>
            <a:rect l="l" t="t" r="r" b="b"/>
            <a:pathLst>
              <a:path w="3419475" h="185738">
                <a:moveTo>
                  <a:pt x="0" y="0"/>
                </a:moveTo>
                <a:lnTo>
                  <a:pt x="3419475" y="0"/>
                </a:lnTo>
                <a:lnTo>
                  <a:pt x="34194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886997" y="2056247"/>
            <a:ext cx="34194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IoT hub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85825" y="2271229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0" y="0"/>
                </a:moveTo>
                <a:lnTo>
                  <a:pt x="3048000" y="0"/>
                </a:lnTo>
                <a:lnTo>
                  <a:pt x="30480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85825" y="2271229"/>
            <a:ext cx="3048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Coordinates appliances, sensors, and cloud services through one managed control path.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95549"/>
            <a:ext cx="95250" cy="952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53146" y="2767440"/>
            <a:ext cx="3186113" cy="152400"/>
          </a:xfrm>
          <a:custGeom>
            <a:avLst/>
            <a:gdLst/>
            <a:ahLst/>
            <a:cxnLst/>
            <a:rect l="l" t="t" r="r" b="b"/>
            <a:pathLst>
              <a:path w="3186113" h="152400">
                <a:moveTo>
                  <a:pt x="0" y="0"/>
                </a:moveTo>
                <a:lnTo>
                  <a:pt x="3186113" y="0"/>
                </a:lnTo>
                <a:lnTo>
                  <a:pt x="318611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753146" y="2767440"/>
            <a:ext cx="3186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 capture usage and environment data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53146" y="2940304"/>
            <a:ext cx="3186113" cy="152400"/>
          </a:xfrm>
          <a:custGeom>
            <a:avLst/>
            <a:gdLst/>
            <a:ahLst/>
            <a:cxnLst/>
            <a:rect l="l" t="t" r="r" b="b"/>
            <a:pathLst>
              <a:path w="3186113" h="152400">
                <a:moveTo>
                  <a:pt x="0" y="0"/>
                </a:moveTo>
                <a:lnTo>
                  <a:pt x="3186113" y="0"/>
                </a:lnTo>
                <a:lnTo>
                  <a:pt x="318611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53146" y="2940304"/>
            <a:ext cx="3186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Inputs from the home feed the system continuously.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07953"/>
            <a:ext cx="95250" cy="952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51973" y="3179843"/>
            <a:ext cx="3043238" cy="152400"/>
          </a:xfrm>
          <a:custGeom>
            <a:avLst/>
            <a:gdLst/>
            <a:ahLst/>
            <a:cxnLst/>
            <a:rect l="l" t="t" r="r" b="b"/>
            <a:pathLst>
              <a:path w="3043238" h="152400">
                <a:moveTo>
                  <a:pt x="0" y="0"/>
                </a:moveTo>
                <a:lnTo>
                  <a:pt x="3043238" y="0"/>
                </a:lnTo>
                <a:lnTo>
                  <a:pt x="30432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751973" y="3179843"/>
            <a:ext cx="3043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dashboard visualizes real-time status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51973" y="3352707"/>
            <a:ext cx="3043238" cy="152400"/>
          </a:xfrm>
          <a:custGeom>
            <a:avLst/>
            <a:gdLst/>
            <a:ahLst/>
            <a:cxnLst/>
            <a:rect l="l" t="t" r="r" b="b"/>
            <a:pathLst>
              <a:path w="3043238" h="152400">
                <a:moveTo>
                  <a:pt x="0" y="0"/>
                </a:moveTo>
                <a:lnTo>
                  <a:pt x="3043238" y="0"/>
                </a:lnTo>
                <a:lnTo>
                  <a:pt x="30432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51973" y="3352707"/>
            <a:ext cx="3043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Operators see live conditions, states, and exceptions.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20356"/>
            <a:ext cx="95250" cy="9525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52419" y="3592246"/>
            <a:ext cx="2905125" cy="152400"/>
          </a:xfrm>
          <a:custGeom>
            <a:avLst/>
            <a:gdLst/>
            <a:ahLst/>
            <a:cxnLst/>
            <a:rect l="l" t="t" r="r" b="b"/>
            <a:pathLst>
              <a:path w="2905125" h="152400">
                <a:moveTo>
                  <a:pt x="0" y="0"/>
                </a:moveTo>
                <a:lnTo>
                  <a:pt x="2905125" y="0"/>
                </a:lnTo>
                <a:lnTo>
                  <a:pt x="29051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752419" y="3592246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Rules engine triggers automation actions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52419" y="3765111"/>
            <a:ext cx="2905125" cy="152400"/>
          </a:xfrm>
          <a:custGeom>
            <a:avLst/>
            <a:gdLst/>
            <a:ahLst/>
            <a:cxnLst/>
            <a:rect l="l" t="t" r="r" b="b"/>
            <a:pathLst>
              <a:path w="2905125" h="152400">
                <a:moveTo>
                  <a:pt x="0" y="0"/>
                </a:moveTo>
                <a:lnTo>
                  <a:pt x="2905125" y="0"/>
                </a:lnTo>
                <a:lnTo>
                  <a:pt x="29051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752419" y="3765111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logic turns data into immediate responses.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82197" y="4129571"/>
            <a:ext cx="3724275" cy="519112"/>
          </a:xfrm>
          <a:custGeom>
            <a:avLst/>
            <a:gdLst/>
            <a:ahLst/>
            <a:cxnLst/>
            <a:rect l="l" t="t" r="r" b="b"/>
            <a:pathLst>
              <a:path w="3724275" h="519112">
                <a:moveTo>
                  <a:pt x="184560" y="0"/>
                </a:moveTo>
                <a:lnTo>
                  <a:pt x="3539715" y="0"/>
                </a:lnTo>
                <a:quadBezTo>
                  <a:pt x="3724275" y="0"/>
                  <a:pt x="3724275" y="184560"/>
                </a:quadBezTo>
                <a:lnTo>
                  <a:pt x="3724275" y="334552"/>
                </a:lnTo>
                <a:quadBezTo>
                  <a:pt x="3724275" y="519112"/>
                  <a:pt x="3539715" y="519112"/>
                </a:quadBezTo>
                <a:lnTo>
                  <a:pt x="184560" y="519112"/>
                </a:lnTo>
                <a:quadBezTo>
                  <a:pt x="0" y="519112"/>
                  <a:pt x="0" y="334552"/>
                </a:quadBezTo>
                <a:lnTo>
                  <a:pt x="0" y="184560"/>
                </a:lnTo>
                <a:quadBezTo>
                  <a:pt x="0" y="0"/>
                  <a:pt x="18456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327215"/>
            <a:ext cx="123825" cy="12382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96522" y="4234346"/>
            <a:ext cx="3295650" cy="309562"/>
          </a:xfrm>
          <a:custGeom>
            <a:avLst/>
            <a:gdLst/>
            <a:ahLst/>
            <a:cxnLst/>
            <a:rect l="l" t="t" r="r" b="b"/>
            <a:pathLst>
              <a:path w="3295650" h="309562">
                <a:moveTo>
                  <a:pt x="0" y="0"/>
                </a:moveTo>
                <a:lnTo>
                  <a:pt x="3295650" y="0"/>
                </a:lnTo>
                <a:lnTo>
                  <a:pt x="329565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896522" y="4234346"/>
            <a:ext cx="329565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emphasizes clean signal flow: sense, analyze, visualize, then act.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716047" y="1607400"/>
            <a:ext cx="4048125" cy="123825"/>
          </a:xfrm>
          <a:custGeom>
            <a:avLst/>
            <a:gdLst/>
            <a:ahLst/>
            <a:cxnLst/>
            <a:rect l="l" t="t" r="r" b="b"/>
            <a:pathLst>
              <a:path w="4048125" h="123825">
                <a:moveTo>
                  <a:pt x="0" y="0"/>
                </a:moveTo>
                <a:lnTo>
                  <a:pt x="4048125" y="0"/>
                </a:lnTo>
                <a:lnTo>
                  <a:pt x="40481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4716047" y="1607400"/>
            <a:ext cx="4048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ARCHITECTURE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716047" y="1847162"/>
            <a:ext cx="4048125" cy="2990850"/>
          </a:xfrm>
          <a:custGeom>
            <a:avLst/>
            <a:gdLst/>
            <a:ahLst/>
            <a:cxnLst/>
            <a:rect l="l" t="t" r="r" b="b"/>
            <a:pathLst>
              <a:path w="4048125" h="2990850">
                <a:moveTo>
                  <a:pt x="40765" y="0"/>
                </a:moveTo>
                <a:lnTo>
                  <a:pt x="4007360" y="0"/>
                </a:lnTo>
                <a:quadBezTo>
                  <a:pt x="4048125" y="0"/>
                  <a:pt x="4048125" y="40765"/>
                </a:quadBezTo>
                <a:lnTo>
                  <a:pt x="4048125" y="2950085"/>
                </a:lnTo>
                <a:quadBezTo>
                  <a:pt x="4048125" y="2990850"/>
                  <a:pt x="4007360" y="2990850"/>
                </a:quadBezTo>
                <a:lnTo>
                  <a:pt x="40765" y="2990850"/>
                </a:lnTo>
                <a:quadBezTo>
                  <a:pt x="0" y="2990850"/>
                  <a:pt x="0" y="2950085"/>
                </a:quadBezTo>
                <a:lnTo>
                  <a:pt x="0" y="40765"/>
                </a:lnTo>
                <a:quadBezTo>
                  <a:pt x="0" y="0"/>
                  <a:pt x="4076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/>
          <a:effectLst>
            <a:outerShdw blurRad="238125" dist="85725" dir="2700000" algn="bl" rotWithShape="0">
              <a:srgbClr val="102A43">
                <a:alpha val="7843"/>
              </a:srgbClr>
            </a:outerShdw>
          </a:effectLst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47" y="1847162"/>
            <a:ext cx="4048125" cy="29908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00BDA38-0F73-E674-2C0B-A7F3F41EE3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24165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43849"/>
            <a:ext cx="6286500" cy="123825"/>
          </a:xfrm>
          <a:custGeom>
            <a:avLst/>
            <a:gdLst/>
            <a:ahLst/>
            <a:cxnLst/>
            <a:rect l="l" t="t" r="r" b="b"/>
            <a:pathLst>
              <a:path w="6286500" h="123825">
                <a:moveTo>
                  <a:pt x="0" y="0"/>
                </a:moveTo>
                <a:lnTo>
                  <a:pt x="6286500" y="0"/>
                </a:lnTo>
                <a:lnTo>
                  <a:pt x="62865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0050" y="343849"/>
            <a:ext cx="6286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0050" y="534628"/>
            <a:ext cx="5715000" cy="661987"/>
          </a:xfrm>
          <a:custGeom>
            <a:avLst/>
            <a:gdLst/>
            <a:ahLst/>
            <a:cxnLst/>
            <a:rect l="l" t="t" r="r" b="b"/>
            <a:pathLst>
              <a:path w="5715000" h="661987">
                <a:moveTo>
                  <a:pt x="0" y="0"/>
                </a:moveTo>
                <a:lnTo>
                  <a:pt x="5715000" y="0"/>
                </a:lnTo>
                <a:lnTo>
                  <a:pt x="5715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00050" y="534628"/>
            <a:ext cx="5715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layers that turn home signals into action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0050" y="1262510"/>
            <a:ext cx="5810250" cy="395287"/>
          </a:xfrm>
          <a:custGeom>
            <a:avLst/>
            <a:gdLst/>
            <a:ahLst/>
            <a:cxnLst/>
            <a:rect l="l" t="t" r="r" b="b"/>
            <a:pathLst>
              <a:path w="5810250" h="395287">
                <a:moveTo>
                  <a:pt x="0" y="0"/>
                </a:moveTo>
                <a:lnTo>
                  <a:pt x="5810250" y="0"/>
                </a:lnTo>
                <a:lnTo>
                  <a:pt x="5810250" y="395287"/>
                </a:lnTo>
                <a:lnTo>
                  <a:pt x="0" y="3952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00050" y="1262510"/>
            <a:ext cx="581025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IoT control stack: sensing, processing, communication, and application stay separated for clarity and reliability.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0050" y="1962316"/>
            <a:ext cx="8343900" cy="2867025"/>
          </a:xfrm>
          <a:custGeom>
            <a:avLst/>
            <a:gdLst/>
            <a:ahLst/>
            <a:cxnLst/>
            <a:rect l="l" t="t" r="r" b="b"/>
            <a:pathLst>
              <a:path w="8343900" h="2867025">
                <a:moveTo>
                  <a:pt x="51635" y="0"/>
                </a:moveTo>
                <a:lnTo>
                  <a:pt x="8292265" y="0"/>
                </a:lnTo>
                <a:quadBezTo>
                  <a:pt x="8343900" y="0"/>
                  <a:pt x="8343900" y="51635"/>
                </a:quadBezTo>
                <a:lnTo>
                  <a:pt x="8343900" y="2815390"/>
                </a:lnTo>
                <a:quadBezTo>
                  <a:pt x="8343900" y="2867025"/>
                  <a:pt x="8292265" y="2867025"/>
                </a:quadBezTo>
                <a:lnTo>
                  <a:pt x="51635" y="2867025"/>
                </a:lnTo>
                <a:quadBezTo>
                  <a:pt x="0" y="2867025"/>
                  <a:pt x="0" y="2815390"/>
                </a:quadBezTo>
                <a:lnTo>
                  <a:pt x="0" y="51635"/>
                </a:lnTo>
                <a:quadBezTo>
                  <a:pt x="0" y="0"/>
                  <a:pt x="51635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19125" y="219298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3" name="Shape 10"/>
          <p:cNvSpPr/>
          <p:nvPr/>
        </p:nvSpPr>
        <p:spPr>
          <a:xfrm>
            <a:off x="772251" y="2162026"/>
            <a:ext cx="1085850" cy="147637"/>
          </a:xfrm>
          <a:custGeom>
            <a:avLst/>
            <a:gdLst/>
            <a:ahLst/>
            <a:cxnLst/>
            <a:rect l="l" t="t" r="r" b="b"/>
            <a:pathLst>
              <a:path w="1085850" h="147637">
                <a:moveTo>
                  <a:pt x="0" y="0"/>
                </a:moveTo>
                <a:lnTo>
                  <a:pt x="1085850" y="0"/>
                </a:lnTo>
                <a:lnTo>
                  <a:pt x="1085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2251" y="2162026"/>
            <a:ext cx="1085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flow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05017" y="2173914"/>
            <a:ext cx="2319337" cy="123825"/>
          </a:xfrm>
          <a:custGeom>
            <a:avLst/>
            <a:gdLst/>
            <a:ahLst/>
            <a:cxnLst/>
            <a:rect l="l" t="t" r="r" b="b"/>
            <a:pathLst>
              <a:path w="2319337" h="123825">
                <a:moveTo>
                  <a:pt x="0" y="0"/>
                </a:moveTo>
                <a:lnTo>
                  <a:pt x="2319337" y="0"/>
                </a:lnTo>
                <a:lnTo>
                  <a:pt x="23193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05017" y="2173914"/>
            <a:ext cx="23193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by design, connected in sequence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125" y="2433657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950" y="2547305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613980"/>
            <a:ext cx="123825" cy="12382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04993" y="2552068"/>
            <a:ext cx="809625" cy="161925"/>
          </a:xfrm>
          <a:custGeom>
            <a:avLst/>
            <a:gdLst/>
            <a:ahLst/>
            <a:cxnLst/>
            <a:rect l="l" t="t" r="r" b="b"/>
            <a:pathLst>
              <a:path w="809625" h="161925">
                <a:moveTo>
                  <a:pt x="0" y="0"/>
                </a:moveTo>
                <a:lnTo>
                  <a:pt x="809625" y="0"/>
                </a:lnTo>
                <a:lnTo>
                  <a:pt x="8096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1104993" y="2552068"/>
            <a:ext cx="809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972363" y="2547305"/>
            <a:ext cx="1509712" cy="171450"/>
          </a:xfrm>
          <a:custGeom>
            <a:avLst/>
            <a:gdLst/>
            <a:ahLst/>
            <a:cxnLst/>
            <a:rect l="l" t="t" r="r" b="b"/>
            <a:pathLst>
              <a:path w="1509712" h="171450">
                <a:moveTo>
                  <a:pt x="85725" y="0"/>
                </a:moveTo>
                <a:lnTo>
                  <a:pt x="1423987" y="0"/>
                </a:lnTo>
                <a:quadBezTo>
                  <a:pt x="1509712" y="0"/>
                  <a:pt x="1509712" y="85725"/>
                </a:quadBezTo>
                <a:lnTo>
                  <a:pt x="1509712" y="85725"/>
                </a:lnTo>
                <a:quadBezTo>
                  <a:pt x="1509712" y="171450"/>
                  <a:pt x="1423987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3" name="Text 19"/>
          <p:cNvSpPr/>
          <p:nvPr/>
        </p:nvSpPr>
        <p:spPr>
          <a:xfrm>
            <a:off x="1972363" y="2547305"/>
            <a:ext cx="1509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 and smart switches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104900" y="2747982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104900" y="2747982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occupancy, command, and environmental signals at the edge of the home.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9125" y="3106471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742950" y="322012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286796"/>
            <a:ext cx="123825" cy="12382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105571" y="3224882"/>
            <a:ext cx="1228725" cy="161925"/>
          </a:xfrm>
          <a:custGeom>
            <a:avLst/>
            <a:gdLst/>
            <a:ahLst/>
            <a:cxnLst/>
            <a:rect l="l" t="t" r="r" b="b"/>
            <a:pathLst>
              <a:path w="1228725" h="161925">
                <a:moveTo>
                  <a:pt x="0" y="0"/>
                </a:moveTo>
                <a:lnTo>
                  <a:pt x="1228725" y="0"/>
                </a:lnTo>
                <a:lnTo>
                  <a:pt x="1228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1105571" y="3224882"/>
            <a:ext cx="122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392077" y="3220121"/>
            <a:ext cx="1366837" cy="171450"/>
          </a:xfrm>
          <a:custGeom>
            <a:avLst/>
            <a:gdLst/>
            <a:ahLst/>
            <a:cxnLst/>
            <a:rect l="l" t="t" r="r" b="b"/>
            <a:pathLst>
              <a:path w="1366837" h="171450">
                <a:moveTo>
                  <a:pt x="85725" y="0"/>
                </a:moveTo>
                <a:lnTo>
                  <a:pt x="1281112" y="0"/>
                </a:lnTo>
                <a:quadBezTo>
                  <a:pt x="1366837" y="0"/>
                  <a:pt x="1366837" y="85725"/>
                </a:quadBezTo>
                <a:lnTo>
                  <a:pt x="1366837" y="85725"/>
                </a:lnTo>
                <a:quadBezTo>
                  <a:pt x="1366837" y="171450"/>
                  <a:pt x="1281112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2" name="Text 27"/>
          <p:cNvSpPr/>
          <p:nvPr/>
        </p:nvSpPr>
        <p:spPr>
          <a:xfrm>
            <a:off x="2392077" y="3220121"/>
            <a:ext cx="1366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Microcontroller and logic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104900" y="3420796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1104900" y="3420796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Executes rules, filters input, and makes local decisions before any network delay.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19125" y="3779286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1"/>
          <p:cNvSpPr/>
          <p:nvPr/>
        </p:nvSpPr>
        <p:spPr>
          <a:xfrm>
            <a:off x="742950" y="3892934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59609"/>
            <a:ext cx="123825" cy="12382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104751" y="3897697"/>
            <a:ext cx="1609725" cy="161925"/>
          </a:xfrm>
          <a:custGeom>
            <a:avLst/>
            <a:gdLst/>
            <a:ahLst/>
            <a:cxnLst/>
            <a:rect l="l" t="t" r="r" b="b"/>
            <a:pathLst>
              <a:path w="1609725" h="161925">
                <a:moveTo>
                  <a:pt x="0" y="0"/>
                </a:moveTo>
                <a:lnTo>
                  <a:pt x="1609725" y="0"/>
                </a:lnTo>
                <a:lnTo>
                  <a:pt x="1609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1104751" y="3897697"/>
            <a:ext cx="1609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 layer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2772631" y="3892934"/>
            <a:ext cx="895350" cy="171450"/>
          </a:xfrm>
          <a:custGeom>
            <a:avLst/>
            <a:gdLst/>
            <a:ahLst/>
            <a:cxnLst/>
            <a:rect l="l" t="t" r="r" b="b"/>
            <a:pathLst>
              <a:path w="895350" h="171450">
                <a:moveTo>
                  <a:pt x="85725" y="0"/>
                </a:moveTo>
                <a:lnTo>
                  <a:pt x="809625" y="0"/>
                </a:lnTo>
                <a:quadBezTo>
                  <a:pt x="895350" y="0"/>
                  <a:pt x="895350" y="85725"/>
                </a:quadBezTo>
                <a:lnTo>
                  <a:pt x="895350" y="85725"/>
                </a:lnTo>
                <a:quadBezTo>
                  <a:pt x="895350" y="171450"/>
                  <a:pt x="809625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41" name="Text 35"/>
          <p:cNvSpPr/>
          <p:nvPr/>
        </p:nvSpPr>
        <p:spPr>
          <a:xfrm>
            <a:off x="2772631" y="3892934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Wi‑Fi and cloud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1104900" y="4093611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104900" y="4093611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Moves events to remote services for sync, logging, and system-wide visibility.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19125" y="4419445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742950" y="4565749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632424"/>
            <a:ext cx="123825" cy="12382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1105496" y="4570512"/>
            <a:ext cx="1266825" cy="161925"/>
          </a:xfrm>
          <a:custGeom>
            <a:avLst/>
            <a:gdLst/>
            <a:ahLst/>
            <a:cxnLst/>
            <a:rect l="l" t="t" r="r" b="b"/>
            <a:pathLst>
              <a:path w="1266825" h="161925">
                <a:moveTo>
                  <a:pt x="0" y="0"/>
                </a:moveTo>
                <a:lnTo>
                  <a:pt x="1266825" y="0"/>
                </a:lnTo>
                <a:lnTo>
                  <a:pt x="12668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1105496" y="4570512"/>
            <a:ext cx="1266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2430697" y="4565749"/>
            <a:ext cx="1185863" cy="171450"/>
          </a:xfrm>
          <a:custGeom>
            <a:avLst/>
            <a:gdLst/>
            <a:ahLst/>
            <a:cxnLst/>
            <a:rect l="l" t="t" r="r" b="b"/>
            <a:pathLst>
              <a:path w="1185863" h="171450">
                <a:moveTo>
                  <a:pt x="85725" y="0"/>
                </a:moveTo>
                <a:lnTo>
                  <a:pt x="1100138" y="0"/>
                </a:lnTo>
                <a:quadBezTo>
                  <a:pt x="1185863" y="0"/>
                  <a:pt x="1185863" y="85725"/>
                </a:quadBezTo>
                <a:lnTo>
                  <a:pt x="1185863" y="85725"/>
                </a:lnTo>
                <a:quadBezTo>
                  <a:pt x="1185863" y="171450"/>
                  <a:pt x="1100138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0" name="Text 43"/>
          <p:cNvSpPr/>
          <p:nvPr/>
        </p:nvSpPr>
        <p:spPr>
          <a:xfrm>
            <a:off x="2430697" y="4565749"/>
            <a:ext cx="11858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and alerts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1104900" y="4766426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1104900" y="4766426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Presents live status and triggers alerts that convert data into user action.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619683" y="4504376"/>
            <a:ext cx="3586163" cy="123825"/>
          </a:xfrm>
          <a:custGeom>
            <a:avLst/>
            <a:gdLst/>
            <a:ahLst/>
            <a:cxnLst/>
            <a:rect l="l" t="t" r="r" b="b"/>
            <a:pathLst>
              <a:path w="3586163" h="123825">
                <a:moveTo>
                  <a:pt x="0" y="0"/>
                </a:moveTo>
                <a:lnTo>
                  <a:pt x="3586163" y="0"/>
                </a:lnTo>
                <a:lnTo>
                  <a:pt x="358616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Shape 48"/>
          <p:cNvSpPr/>
          <p:nvPr/>
        </p:nvSpPr>
        <p:spPr>
          <a:xfrm>
            <a:off x="7328371" y="4506739"/>
            <a:ext cx="1196504" cy="116681"/>
          </a:xfrm>
          <a:custGeom>
            <a:avLst/>
            <a:gdLst/>
            <a:ahLst/>
            <a:cxnLst/>
            <a:rect l="l" t="t" r="r" b="b"/>
            <a:pathLst>
              <a:path w="1196504" h="116681">
                <a:moveTo>
                  <a:pt x="0" y="0"/>
                </a:moveTo>
                <a:lnTo>
                  <a:pt x="1196504" y="0"/>
                </a:lnTo>
                <a:lnTo>
                  <a:pt x="1196504" y="116681"/>
                </a:lnTo>
                <a:lnTo>
                  <a:pt x="0" y="11668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37B9478-7C15-7D41-83F9-B6CF38BC3C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20083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6000750" cy="123825"/>
          </a:xfrm>
          <a:custGeom>
            <a:avLst/>
            <a:gdLst/>
            <a:ahLst/>
            <a:cxnLst/>
            <a:rect l="l" t="t" r="r" b="b"/>
            <a:pathLst>
              <a:path w="6000750" h="123825">
                <a:moveTo>
                  <a:pt x="0" y="0"/>
                </a:moveTo>
                <a:lnTo>
                  <a:pt x="6000750" y="0"/>
                </a:lnTo>
                <a:lnTo>
                  <a:pt x="6000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6000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5949"/>
            <a:ext cx="4286250" cy="309562"/>
          </a:xfrm>
          <a:custGeom>
            <a:avLst/>
            <a:gdLst/>
            <a:ahLst/>
            <a:cxnLst/>
            <a:rect l="l" t="t" r="r" b="b"/>
            <a:pathLst>
              <a:path w="4286250" h="309562">
                <a:moveTo>
                  <a:pt x="0" y="0"/>
                </a:moveTo>
                <a:lnTo>
                  <a:pt x="4286250" y="0"/>
                </a:lnTo>
                <a:lnTo>
                  <a:pt x="428625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5949"/>
            <a:ext cx="428625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Components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912837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0" y="0"/>
                </a:moveTo>
                <a:lnTo>
                  <a:pt x="5334000" y="0"/>
                </a:lnTo>
                <a:lnTo>
                  <a:pt x="533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912837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blocks define the system: control electronics on one side, and sensing plus protection on the other.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618469"/>
            <a:ext cx="4048125" cy="3162300"/>
          </a:xfrm>
          <a:custGeom>
            <a:avLst/>
            <a:gdLst/>
            <a:ahLst/>
            <a:cxnLst/>
            <a:rect l="l" t="t" r="r" b="b"/>
            <a:pathLst>
              <a:path w="4048125" h="3162300">
                <a:moveTo>
                  <a:pt x="38548" y="0"/>
                </a:moveTo>
                <a:lnTo>
                  <a:pt x="4009577" y="0"/>
                </a:lnTo>
                <a:quadBezTo>
                  <a:pt x="4048125" y="0"/>
                  <a:pt x="4048125" y="38548"/>
                </a:quadBezTo>
                <a:lnTo>
                  <a:pt x="4048125" y="3123752"/>
                </a:lnTo>
                <a:quadBezTo>
                  <a:pt x="4048125" y="3162300"/>
                  <a:pt x="4009577" y="3162300"/>
                </a:quadBezTo>
                <a:lnTo>
                  <a:pt x="38548" y="3162300"/>
                </a:lnTo>
                <a:quadBezTo>
                  <a:pt x="0" y="3162300"/>
                  <a:pt x="0" y="3123752"/>
                </a:quadBezTo>
                <a:lnTo>
                  <a:pt x="0" y="38548"/>
                </a:lnTo>
                <a:quadBezTo>
                  <a:pt x="0" y="0"/>
                  <a:pt x="3854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286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125" y="1833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914079"/>
            <a:ext cx="142875" cy="1428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9650" y="1817414"/>
            <a:ext cx="3257550" cy="185738"/>
          </a:xfrm>
          <a:custGeom>
            <a:avLst/>
            <a:gdLst/>
            <a:ahLst/>
            <a:cxnLst/>
            <a:rect l="l" t="t" r="r" b="b"/>
            <a:pathLst>
              <a:path w="3257550" h="185738">
                <a:moveTo>
                  <a:pt x="0" y="0"/>
                </a:moveTo>
                <a:lnTo>
                  <a:pt x="3257550" y="0"/>
                </a:lnTo>
                <a:lnTo>
                  <a:pt x="32575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09650" y="1817414"/>
            <a:ext cx="3257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electronics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09650" y="2020937"/>
            <a:ext cx="3257550" cy="133350"/>
          </a:xfrm>
          <a:custGeom>
            <a:avLst/>
            <a:gdLst/>
            <a:ahLst/>
            <a:cxnLst/>
            <a:rect l="l" t="t" r="r" b="b"/>
            <a:pathLst>
              <a:path w="3257550" h="133350">
                <a:moveTo>
                  <a:pt x="0" y="0"/>
                </a:moveTo>
                <a:lnTo>
                  <a:pt x="3257550" y="0"/>
                </a:lnTo>
                <a:lnTo>
                  <a:pt x="32575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009650" y="2020937"/>
            <a:ext cx="3257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Microcontroller and relay modules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9125" y="2287116"/>
            <a:ext cx="3648075" cy="719137"/>
          </a:xfrm>
          <a:custGeom>
            <a:avLst/>
            <a:gdLst/>
            <a:ahLst/>
            <a:cxnLst/>
            <a:rect l="l" t="t" r="r" b="b"/>
            <a:pathLst>
              <a:path w="3648075" h="719137">
                <a:moveTo>
                  <a:pt x="0" y="0"/>
                </a:moveTo>
                <a:lnTo>
                  <a:pt x="3648075" y="0"/>
                </a:lnTo>
                <a:lnTo>
                  <a:pt x="36480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19125" y="2287116"/>
            <a:ext cx="36480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microcontroller coordinates logic, timing, and device states, while relay modules provide safe switching between low-voltage control and load-side equipment.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9125" y="3112406"/>
            <a:ext cx="3648075" cy="538163"/>
          </a:xfrm>
          <a:custGeom>
            <a:avLst/>
            <a:gdLst/>
            <a:ahLst/>
            <a:cxnLst/>
            <a:rect l="l" t="t" r="r" b="b"/>
            <a:pathLst>
              <a:path w="3648075" h="538163">
                <a:moveTo>
                  <a:pt x="0" y="0"/>
                </a:moveTo>
                <a:lnTo>
                  <a:pt x="3648075" y="0"/>
                </a:lnTo>
                <a:lnTo>
                  <a:pt x="36480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19125" y="3112406"/>
            <a:ext cx="36480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block is the decision layer: it receives inputs, applies rules, and drives the home automation response with clean electrical isolation.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9125" y="4028145"/>
            <a:ext cx="3648075" cy="561975"/>
          </a:xfrm>
          <a:custGeom>
            <a:avLst/>
            <a:gdLst/>
            <a:ahLst/>
            <a:cxnLst/>
            <a:rect l="l" t="t" r="r" b="b"/>
            <a:pathLst>
              <a:path w="3648075" h="561975">
                <a:moveTo>
                  <a:pt x="154981" y="0"/>
                </a:moveTo>
                <a:lnTo>
                  <a:pt x="3493094" y="0"/>
                </a:lnTo>
                <a:quadBezTo>
                  <a:pt x="3648075" y="0"/>
                  <a:pt x="3648075" y="154981"/>
                </a:quadBezTo>
                <a:lnTo>
                  <a:pt x="3648075" y="406994"/>
                </a:lnTo>
                <a:quadBezTo>
                  <a:pt x="3648075" y="561975"/>
                  <a:pt x="3493094" y="561975"/>
                </a:quadBezTo>
                <a:lnTo>
                  <a:pt x="154981" y="561975"/>
                </a:lnTo>
                <a:quadBezTo>
                  <a:pt x="0" y="561975"/>
                  <a:pt x="0" y="406994"/>
                </a:quadBezTo>
                <a:lnTo>
                  <a:pt x="0" y="154981"/>
                </a:lnTo>
                <a:quadBezTo>
                  <a:pt x="0" y="0"/>
                  <a:pt x="154981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151039"/>
            <a:ext cx="104775" cy="10477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4792" y="4132456"/>
            <a:ext cx="1976437" cy="147637"/>
          </a:xfrm>
          <a:custGeom>
            <a:avLst/>
            <a:gdLst/>
            <a:ahLst/>
            <a:cxnLst/>
            <a:rect l="l" t="t" r="r" b="b"/>
            <a:pathLst>
              <a:path w="1976437" h="147637">
                <a:moveTo>
                  <a:pt x="0" y="0"/>
                </a:moveTo>
                <a:lnTo>
                  <a:pt x="1976437" y="0"/>
                </a:lnTo>
                <a:lnTo>
                  <a:pt x="1976437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94792" y="4132456"/>
            <a:ext cx="1976437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control for automation rules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356757"/>
            <a:ext cx="104775" cy="10477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5648" y="4338171"/>
            <a:ext cx="2066925" cy="147637"/>
          </a:xfrm>
          <a:custGeom>
            <a:avLst/>
            <a:gdLst/>
            <a:ahLst/>
            <a:cxnLst/>
            <a:rect l="l" t="t" r="r" b="b"/>
            <a:pathLst>
              <a:path w="2066925" h="147637">
                <a:moveTo>
                  <a:pt x="0" y="0"/>
                </a:moveTo>
                <a:lnTo>
                  <a:pt x="2066925" y="0"/>
                </a:lnTo>
                <a:lnTo>
                  <a:pt x="20669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95648" y="4338171"/>
            <a:ext cx="20669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Relay isolation for mains-side safety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676775" y="1618469"/>
            <a:ext cx="4048125" cy="3162300"/>
          </a:xfrm>
          <a:custGeom>
            <a:avLst/>
            <a:gdLst/>
            <a:ahLst/>
            <a:cxnLst/>
            <a:rect l="l" t="t" r="r" b="b"/>
            <a:pathLst>
              <a:path w="4048125" h="3162300">
                <a:moveTo>
                  <a:pt x="38548" y="0"/>
                </a:moveTo>
                <a:lnTo>
                  <a:pt x="4009577" y="0"/>
                </a:lnTo>
                <a:quadBezTo>
                  <a:pt x="4048125" y="0"/>
                  <a:pt x="4048125" y="38548"/>
                </a:quadBezTo>
                <a:lnTo>
                  <a:pt x="4048125" y="3123752"/>
                </a:lnTo>
                <a:quadBezTo>
                  <a:pt x="4048125" y="3162300"/>
                  <a:pt x="4009577" y="3162300"/>
                </a:quadBezTo>
                <a:lnTo>
                  <a:pt x="38548" y="3162300"/>
                </a:lnTo>
                <a:quadBezTo>
                  <a:pt x="0" y="3162300"/>
                  <a:pt x="0" y="3123752"/>
                </a:quadBezTo>
                <a:lnTo>
                  <a:pt x="0" y="38548"/>
                </a:lnTo>
                <a:quadBezTo>
                  <a:pt x="0" y="0"/>
                  <a:pt x="3854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286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76800" y="1833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1914079"/>
            <a:ext cx="142875" cy="14287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267325" y="1817414"/>
            <a:ext cx="3257550" cy="185738"/>
          </a:xfrm>
          <a:custGeom>
            <a:avLst/>
            <a:gdLst/>
            <a:ahLst/>
            <a:cxnLst/>
            <a:rect l="l" t="t" r="r" b="b"/>
            <a:pathLst>
              <a:path w="3257550" h="185738">
                <a:moveTo>
                  <a:pt x="0" y="0"/>
                </a:moveTo>
                <a:lnTo>
                  <a:pt x="3257550" y="0"/>
                </a:lnTo>
                <a:lnTo>
                  <a:pt x="32575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267325" y="1817414"/>
            <a:ext cx="3257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Sensing and power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267325" y="2020937"/>
            <a:ext cx="3257550" cy="133350"/>
          </a:xfrm>
          <a:custGeom>
            <a:avLst/>
            <a:gdLst/>
            <a:ahLst/>
            <a:cxnLst/>
            <a:rect l="l" t="t" r="r" b="b"/>
            <a:pathLst>
              <a:path w="3257550" h="133350">
                <a:moveTo>
                  <a:pt x="0" y="0"/>
                </a:moveTo>
                <a:lnTo>
                  <a:pt x="3257550" y="0"/>
                </a:lnTo>
                <a:lnTo>
                  <a:pt x="32575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5267325" y="2020937"/>
            <a:ext cx="3257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Current, occupancy, environment, protection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76800" y="2287116"/>
            <a:ext cx="3648075" cy="719137"/>
          </a:xfrm>
          <a:custGeom>
            <a:avLst/>
            <a:gdLst/>
            <a:ahLst/>
            <a:cxnLst/>
            <a:rect l="l" t="t" r="r" b="b"/>
            <a:pathLst>
              <a:path w="3648075" h="719137">
                <a:moveTo>
                  <a:pt x="0" y="0"/>
                </a:moveTo>
                <a:lnTo>
                  <a:pt x="3648075" y="0"/>
                </a:lnTo>
                <a:lnTo>
                  <a:pt x="36480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4876800" y="2287116"/>
            <a:ext cx="36480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and voltage sensing give feedback on load behavior, occupancy and environmental sensors capture room context, and the supply stage conditions stable power for the entire stack.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876800" y="3112406"/>
            <a:ext cx="3648075" cy="538163"/>
          </a:xfrm>
          <a:custGeom>
            <a:avLst/>
            <a:gdLst/>
            <a:ahLst/>
            <a:cxnLst/>
            <a:rect l="l" t="t" r="r" b="b"/>
            <a:pathLst>
              <a:path w="3648075" h="538163">
                <a:moveTo>
                  <a:pt x="0" y="0"/>
                </a:moveTo>
                <a:lnTo>
                  <a:pt x="3648075" y="0"/>
                </a:lnTo>
                <a:lnTo>
                  <a:pt x="36480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4876800" y="3112406"/>
            <a:ext cx="36480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Protection circuitry keeps the system robust by handling regulation, isolation, and fault-aware operation before signals reach the controller.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876800" y="4028145"/>
            <a:ext cx="3648075" cy="561975"/>
          </a:xfrm>
          <a:custGeom>
            <a:avLst/>
            <a:gdLst/>
            <a:ahLst/>
            <a:cxnLst/>
            <a:rect l="l" t="t" r="r" b="b"/>
            <a:pathLst>
              <a:path w="3648075" h="561975">
                <a:moveTo>
                  <a:pt x="154981" y="0"/>
                </a:moveTo>
                <a:lnTo>
                  <a:pt x="3493094" y="0"/>
                </a:lnTo>
                <a:quadBezTo>
                  <a:pt x="3648075" y="0"/>
                  <a:pt x="3648075" y="154981"/>
                </a:quadBezTo>
                <a:lnTo>
                  <a:pt x="3648075" y="406994"/>
                </a:lnTo>
                <a:quadBezTo>
                  <a:pt x="3648075" y="561975"/>
                  <a:pt x="3493094" y="561975"/>
                </a:quadBezTo>
                <a:lnTo>
                  <a:pt x="154981" y="561975"/>
                </a:lnTo>
                <a:quadBezTo>
                  <a:pt x="0" y="561975"/>
                  <a:pt x="0" y="406994"/>
                </a:quadBezTo>
                <a:lnTo>
                  <a:pt x="0" y="154981"/>
                </a:lnTo>
                <a:quadBezTo>
                  <a:pt x="0" y="0"/>
                  <a:pt x="15498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4151039"/>
            <a:ext cx="104775" cy="10477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152653" y="4132456"/>
            <a:ext cx="2300288" cy="147637"/>
          </a:xfrm>
          <a:custGeom>
            <a:avLst/>
            <a:gdLst/>
            <a:ahLst/>
            <a:cxnLst/>
            <a:rect l="l" t="t" r="r" b="b"/>
            <a:pathLst>
              <a:path w="2300288" h="147637">
                <a:moveTo>
                  <a:pt x="0" y="0"/>
                </a:moveTo>
                <a:lnTo>
                  <a:pt x="2300288" y="0"/>
                </a:lnTo>
                <a:lnTo>
                  <a:pt x="230028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5152653" y="4132456"/>
            <a:ext cx="230028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signals from sensing circuitry</a:t>
            </a:r>
            <a:endParaRPr lang="en-US" sz="9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4356757"/>
            <a:ext cx="104775" cy="104775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5152672" y="4338171"/>
            <a:ext cx="2209800" cy="147637"/>
          </a:xfrm>
          <a:custGeom>
            <a:avLst/>
            <a:gdLst/>
            <a:ahLst/>
            <a:cxnLst/>
            <a:rect l="l" t="t" r="r" b="b"/>
            <a:pathLst>
              <a:path w="2209800" h="147637">
                <a:moveTo>
                  <a:pt x="0" y="0"/>
                </a:moveTo>
                <a:lnTo>
                  <a:pt x="2209800" y="0"/>
                </a:lnTo>
                <a:lnTo>
                  <a:pt x="220980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8"/>
          <p:cNvSpPr/>
          <p:nvPr/>
        </p:nvSpPr>
        <p:spPr>
          <a:xfrm>
            <a:off x="5152672" y="4338171"/>
            <a:ext cx="22098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Protected power for reliable operation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9030A68-61EC-B969-A2B3-DFD1B5CF9DC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87293" y="116001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8305800" cy="123825"/>
          </a:xfrm>
          <a:custGeom>
            <a:avLst/>
            <a:gdLst/>
            <a:ahLst/>
            <a:cxnLst/>
            <a:rect l="l" t="t" r="r" b="b"/>
            <a:pathLst>
              <a:path w="8305800" h="123825">
                <a:moveTo>
                  <a:pt x="0" y="0"/>
                </a:moveTo>
                <a:lnTo>
                  <a:pt x="8305800" y="0"/>
                </a:lnTo>
                <a:lnTo>
                  <a:pt x="83058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8305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4330"/>
            <a:ext cx="5905500" cy="661987"/>
          </a:xfrm>
          <a:custGeom>
            <a:avLst/>
            <a:gdLst/>
            <a:ahLst/>
            <a:cxnLst/>
            <a:rect l="l" t="t" r="r" b="b"/>
            <a:pathLst>
              <a:path w="5905500" h="661987">
                <a:moveTo>
                  <a:pt x="0" y="0"/>
                </a:moveTo>
                <a:lnTo>
                  <a:pt x="5905500" y="0"/>
                </a:lnTo>
                <a:lnTo>
                  <a:pt x="59055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4330"/>
            <a:ext cx="59055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and Communication Stack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281521"/>
            <a:ext cx="6000750" cy="395287"/>
          </a:xfrm>
          <a:custGeom>
            <a:avLst/>
            <a:gdLst/>
            <a:ahLst/>
            <a:cxnLst/>
            <a:rect l="l" t="t" r="r" b="b"/>
            <a:pathLst>
              <a:path w="6000750" h="395287">
                <a:moveTo>
                  <a:pt x="0" y="0"/>
                </a:moveTo>
                <a:lnTo>
                  <a:pt x="6000750" y="0"/>
                </a:lnTo>
                <a:lnTo>
                  <a:pt x="6000750" y="395287"/>
                </a:lnTo>
                <a:lnTo>
                  <a:pt x="0" y="3952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281521"/>
            <a:ext cx="600075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control on one side, data services and user access on the other — connected by stable protocols.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944494"/>
            <a:ext cx="4057650" cy="2114550"/>
          </a:xfrm>
          <a:custGeom>
            <a:avLst/>
            <a:gdLst/>
            <a:ahLst/>
            <a:cxnLst/>
            <a:rect l="l" t="t" r="r" b="b"/>
            <a:pathLst>
              <a:path w="4057650" h="2114550">
                <a:moveTo>
                  <a:pt x="57664" y="0"/>
                </a:moveTo>
                <a:lnTo>
                  <a:pt x="3999986" y="0"/>
                </a:lnTo>
                <a:quadBezTo>
                  <a:pt x="4057650" y="0"/>
                  <a:pt x="4057650" y="57664"/>
                </a:quadBezTo>
                <a:lnTo>
                  <a:pt x="4057650" y="2056886"/>
                </a:lnTo>
                <a:quadBezTo>
                  <a:pt x="4057650" y="2114550"/>
                  <a:pt x="3999986" y="2114550"/>
                </a:quadBezTo>
                <a:lnTo>
                  <a:pt x="57664" y="2114550"/>
                </a:lnTo>
                <a:quadBezTo>
                  <a:pt x="0" y="2114550"/>
                  <a:pt x="0" y="2056886"/>
                </a:quadBezTo>
                <a:lnTo>
                  <a:pt x="0" y="57664"/>
                </a:lnTo>
                <a:quadBezTo>
                  <a:pt x="0" y="0"/>
                  <a:pt x="57664" y="0"/>
                </a:quadBezTo>
                <a:close/>
              </a:path>
            </a:pathLst>
          </a:custGeom>
          <a:solidFill>
            <a:srgbClr val="EAF2F8"/>
          </a:solidFill>
          <a:ln w="4786">
            <a:solidFill>
              <a:srgbClr val="D8E4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363" y="218539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4" name="Shape 11"/>
          <p:cNvSpPr/>
          <p:nvPr/>
        </p:nvSpPr>
        <p:spPr>
          <a:xfrm>
            <a:off x="748513" y="2130642"/>
            <a:ext cx="1581150" cy="176212"/>
          </a:xfrm>
          <a:custGeom>
            <a:avLst/>
            <a:gdLst/>
            <a:ahLst/>
            <a:cxnLst/>
            <a:rect l="l" t="t" r="r" b="b"/>
            <a:pathLst>
              <a:path w="1581150" h="176212">
                <a:moveTo>
                  <a:pt x="0" y="0"/>
                </a:moveTo>
                <a:lnTo>
                  <a:pt x="1581150" y="0"/>
                </a:lnTo>
                <a:lnTo>
                  <a:pt x="158115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48513" y="2130642"/>
            <a:ext cx="158115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control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431628"/>
            <a:ext cx="123825" cy="12382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5429" y="2411388"/>
            <a:ext cx="2800350" cy="195263"/>
          </a:xfrm>
          <a:custGeom>
            <a:avLst/>
            <a:gdLst/>
            <a:ahLst/>
            <a:cxnLst/>
            <a:rect l="l" t="t" r="r" b="b"/>
            <a:pathLst>
              <a:path w="2800350" h="195263">
                <a:moveTo>
                  <a:pt x="0" y="0"/>
                </a:moveTo>
                <a:lnTo>
                  <a:pt x="2800350" y="0"/>
                </a:lnTo>
                <a:lnTo>
                  <a:pt x="28003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15429" y="2411388"/>
            <a:ext cx="28003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firmware for device control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729285"/>
            <a:ext cx="123825" cy="1238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13755" y="2709045"/>
            <a:ext cx="2824163" cy="195263"/>
          </a:xfrm>
          <a:custGeom>
            <a:avLst/>
            <a:gdLst/>
            <a:ahLst/>
            <a:cxnLst/>
            <a:rect l="l" t="t" r="r" b="b"/>
            <a:pathLst>
              <a:path w="2824163" h="195263">
                <a:moveTo>
                  <a:pt x="0" y="0"/>
                </a:moveTo>
                <a:lnTo>
                  <a:pt x="2824163" y="0"/>
                </a:lnTo>
                <a:lnTo>
                  <a:pt x="2824163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13755" y="2709045"/>
            <a:ext cx="28241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MQTT and HTTP handle data exchange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3026941"/>
            <a:ext cx="123825" cy="12382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4388" y="3007891"/>
            <a:ext cx="3467100" cy="385763"/>
          </a:xfrm>
          <a:custGeom>
            <a:avLst/>
            <a:gdLst/>
            <a:ahLst/>
            <a:cxnLst/>
            <a:rect l="l" t="t" r="r" b="b"/>
            <a:pathLst>
              <a:path w="3467100" h="385763">
                <a:moveTo>
                  <a:pt x="0" y="0"/>
                </a:moveTo>
                <a:lnTo>
                  <a:pt x="3467100" y="0"/>
                </a:lnTo>
                <a:lnTo>
                  <a:pt x="34671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814388" y="3007891"/>
            <a:ext cx="3467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protocol layer between hardware and software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4363" y="3630011"/>
            <a:ext cx="3667125" cy="261937"/>
          </a:xfrm>
          <a:custGeom>
            <a:avLst/>
            <a:gdLst/>
            <a:ahLst/>
            <a:cxnLst/>
            <a:rect l="l" t="t" r="r" b="b"/>
            <a:pathLst>
              <a:path w="3667125" h="261937">
                <a:moveTo>
                  <a:pt x="0" y="0"/>
                </a:moveTo>
                <a:lnTo>
                  <a:pt x="3667125" y="0"/>
                </a:lnTo>
                <a:lnTo>
                  <a:pt x="3667125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758580"/>
            <a:ext cx="1143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85273" y="3739548"/>
            <a:ext cx="2366963" cy="152400"/>
          </a:xfrm>
          <a:custGeom>
            <a:avLst/>
            <a:gdLst/>
            <a:ahLst/>
            <a:cxnLst/>
            <a:rect l="l" t="t" r="r" b="b"/>
            <a:pathLst>
              <a:path w="2366963" h="152400">
                <a:moveTo>
                  <a:pt x="0" y="0"/>
                </a:moveTo>
                <a:lnTo>
                  <a:pt x="2366963" y="0"/>
                </a:lnTo>
                <a:lnTo>
                  <a:pt x="23669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785273" y="3739548"/>
            <a:ext cx="23669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control at the device edge.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67250" y="1944494"/>
            <a:ext cx="4057650" cy="2114550"/>
          </a:xfrm>
          <a:custGeom>
            <a:avLst/>
            <a:gdLst/>
            <a:ahLst/>
            <a:cxnLst/>
            <a:rect l="l" t="t" r="r" b="b"/>
            <a:pathLst>
              <a:path w="4057650" h="2114550">
                <a:moveTo>
                  <a:pt x="57664" y="0"/>
                </a:moveTo>
                <a:lnTo>
                  <a:pt x="3999986" y="0"/>
                </a:lnTo>
                <a:quadBezTo>
                  <a:pt x="4057650" y="0"/>
                  <a:pt x="4057650" y="57664"/>
                </a:quadBezTo>
                <a:lnTo>
                  <a:pt x="4057650" y="2056886"/>
                </a:lnTo>
                <a:quadBezTo>
                  <a:pt x="4057650" y="2114550"/>
                  <a:pt x="3999986" y="2114550"/>
                </a:quadBezTo>
                <a:lnTo>
                  <a:pt x="57664" y="2114550"/>
                </a:lnTo>
                <a:quadBezTo>
                  <a:pt x="0" y="2114550"/>
                  <a:pt x="0" y="2056886"/>
                </a:quadBezTo>
                <a:lnTo>
                  <a:pt x="0" y="57664"/>
                </a:lnTo>
                <a:quadBezTo>
                  <a:pt x="0" y="0"/>
                  <a:pt x="5766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38100" dir="2700000" algn="bl" rotWithShape="0">
              <a:srgbClr val="102A43">
                <a:alpha val="5882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57750" y="2180629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31" name="Shape 24"/>
          <p:cNvSpPr/>
          <p:nvPr/>
        </p:nvSpPr>
        <p:spPr>
          <a:xfrm>
            <a:off x="4989965" y="2125880"/>
            <a:ext cx="1714500" cy="176212"/>
          </a:xfrm>
          <a:custGeom>
            <a:avLst/>
            <a:gdLst/>
            <a:ahLst/>
            <a:cxnLst/>
            <a:rect l="l" t="t" r="r" b="b"/>
            <a:pathLst>
              <a:path w="1714500" h="176212">
                <a:moveTo>
                  <a:pt x="0" y="0"/>
                </a:moveTo>
                <a:lnTo>
                  <a:pt x="1714500" y="0"/>
                </a:lnTo>
                <a:lnTo>
                  <a:pt x="17145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4989965" y="2125880"/>
            <a:ext cx="17145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services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426866"/>
            <a:ext cx="123825" cy="1238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057682" y="2406625"/>
            <a:ext cx="2747962" cy="195263"/>
          </a:xfrm>
          <a:custGeom>
            <a:avLst/>
            <a:gdLst/>
            <a:ahLst/>
            <a:cxnLst/>
            <a:rect l="l" t="t" r="r" b="b"/>
            <a:pathLst>
              <a:path w="2747962" h="195263">
                <a:moveTo>
                  <a:pt x="0" y="0"/>
                </a:moveTo>
                <a:lnTo>
                  <a:pt x="2747962" y="0"/>
                </a:lnTo>
                <a:lnTo>
                  <a:pt x="2747962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057682" y="2406625"/>
            <a:ext cx="274796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for historical energy records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724522"/>
            <a:ext cx="123825" cy="123825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058110" y="2704281"/>
            <a:ext cx="2986088" cy="195263"/>
          </a:xfrm>
          <a:custGeom>
            <a:avLst/>
            <a:gdLst/>
            <a:ahLst/>
            <a:cxnLst/>
            <a:rect l="l" t="t" r="r" b="b"/>
            <a:pathLst>
              <a:path w="2986088" h="195263">
                <a:moveTo>
                  <a:pt x="0" y="0"/>
                </a:moveTo>
                <a:lnTo>
                  <a:pt x="2986088" y="0"/>
                </a:lnTo>
                <a:lnTo>
                  <a:pt x="29860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5058110" y="2704281"/>
            <a:ext cx="29860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and mobile interface for user access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022178"/>
            <a:ext cx="123825" cy="12382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057775" y="3003128"/>
            <a:ext cx="3476625" cy="385763"/>
          </a:xfrm>
          <a:custGeom>
            <a:avLst/>
            <a:gdLst/>
            <a:ahLst/>
            <a:cxnLst/>
            <a:rect l="l" t="t" r="r" b="b"/>
            <a:pathLst>
              <a:path w="3476625" h="385763">
                <a:moveTo>
                  <a:pt x="0" y="0"/>
                </a:moveTo>
                <a:lnTo>
                  <a:pt x="3476625" y="0"/>
                </a:lnTo>
                <a:lnTo>
                  <a:pt x="3476625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5057775" y="3003128"/>
            <a:ext cx="3476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access layer for monitoring and interaction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4857750" y="3634773"/>
            <a:ext cx="3676650" cy="261937"/>
          </a:xfrm>
          <a:custGeom>
            <a:avLst/>
            <a:gdLst/>
            <a:ahLst/>
            <a:cxnLst/>
            <a:rect l="l" t="t" r="r" b="b"/>
            <a:pathLst>
              <a:path w="3676650" h="261937">
                <a:moveTo>
                  <a:pt x="0" y="0"/>
                </a:moveTo>
                <a:lnTo>
                  <a:pt x="3676650" y="0"/>
                </a:lnTo>
                <a:lnTo>
                  <a:pt x="3676650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763341"/>
            <a:ext cx="114300" cy="1143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028437" y="3744311"/>
            <a:ext cx="2676525" cy="152400"/>
          </a:xfrm>
          <a:custGeom>
            <a:avLst/>
            <a:gdLst/>
            <a:ahLst/>
            <a:cxnLst/>
            <a:rect l="l" t="t" r="r" b="b"/>
            <a:pathLst>
              <a:path w="2676525" h="152400">
                <a:moveTo>
                  <a:pt x="0" y="0"/>
                </a:moveTo>
                <a:lnTo>
                  <a:pt x="2676525" y="0"/>
                </a:lnTo>
                <a:lnTo>
                  <a:pt x="26765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4"/>
          <p:cNvSpPr/>
          <p:nvPr/>
        </p:nvSpPr>
        <p:spPr>
          <a:xfrm>
            <a:off x="5028437" y="3744311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User-facing services sit above the device layer.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419100" y="4249116"/>
            <a:ext cx="8305800" cy="590550"/>
          </a:xfrm>
          <a:custGeom>
            <a:avLst/>
            <a:gdLst/>
            <a:ahLst/>
            <a:cxnLst/>
            <a:rect l="l" t="t" r="r" b="b"/>
            <a:pathLst>
              <a:path w="8305800" h="590550">
                <a:moveTo>
                  <a:pt x="176982" y="0"/>
                </a:moveTo>
                <a:lnTo>
                  <a:pt x="8128818" y="0"/>
                </a:lnTo>
                <a:quadBezTo>
                  <a:pt x="8305800" y="0"/>
                  <a:pt x="8305800" y="176982"/>
                </a:quadBezTo>
                <a:lnTo>
                  <a:pt x="8305800" y="413568"/>
                </a:lnTo>
                <a:quadBezTo>
                  <a:pt x="8305800" y="590550"/>
                  <a:pt x="8128818" y="590550"/>
                </a:quadBezTo>
                <a:lnTo>
                  <a:pt x="176982" y="590550"/>
                </a:lnTo>
                <a:quadBezTo>
                  <a:pt x="0" y="590550"/>
                  <a:pt x="0" y="413568"/>
                </a:quadBezTo>
                <a:lnTo>
                  <a:pt x="0" y="176982"/>
                </a:lnTo>
                <a:quadBezTo>
                  <a:pt x="0" y="0"/>
                  <a:pt x="176982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87241"/>
            <a:ext cx="114300" cy="11430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52624" y="4463430"/>
            <a:ext cx="466725" cy="161925"/>
          </a:xfrm>
          <a:custGeom>
            <a:avLst/>
            <a:gdLst/>
            <a:ahLst/>
            <a:cxnLst/>
            <a:rect l="l" t="t" r="r" b="b"/>
            <a:pathLst>
              <a:path w="466725" h="161925">
                <a:moveTo>
                  <a:pt x="0" y="0"/>
                </a:moveTo>
                <a:lnTo>
                  <a:pt x="466725" y="0"/>
                </a:lnTo>
                <a:lnTo>
                  <a:pt x="466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7"/>
          <p:cNvSpPr/>
          <p:nvPr/>
        </p:nvSpPr>
        <p:spPr>
          <a:xfrm>
            <a:off x="752624" y="4463430"/>
            <a:ext cx="466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1714500" y="4363416"/>
            <a:ext cx="6858000" cy="361950"/>
          </a:xfrm>
          <a:custGeom>
            <a:avLst/>
            <a:gdLst/>
            <a:ahLst/>
            <a:cxnLst/>
            <a:rect l="l" t="t" r="r" b="b"/>
            <a:pathLst>
              <a:path w="6858000" h="361950">
                <a:moveTo>
                  <a:pt x="0" y="0"/>
                </a:moveTo>
                <a:lnTo>
                  <a:pt x="6858000" y="0"/>
                </a:lnTo>
                <a:lnTo>
                  <a:pt x="68580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39"/>
          <p:cNvSpPr/>
          <p:nvPr/>
        </p:nvSpPr>
        <p:spPr>
          <a:xfrm>
            <a:off x="1714500" y="4363416"/>
            <a:ext cx="685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Firmware controls the hardware; protocols move data; storage and interfaces turn signals into usable insight.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3" y="3630011"/>
            <a:ext cx="3667125" cy="261937"/>
          </a:xfrm>
          <a:prstGeom prst="rect">
            <a:avLst/>
          </a:prstGeom>
        </p:spPr>
      </p:pic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3634773"/>
            <a:ext cx="3676650" cy="2619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FE9EAF3-8D3F-0EFB-6CB4-5EB84ACA197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21BC1F-492E-44E7-EF2A-6DD56A39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41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36288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4"/>
          <p:cNvSpPr/>
          <p:nvPr/>
        </p:nvSpPr>
        <p:spPr>
          <a:xfrm>
            <a:off x="579853" y="343849"/>
            <a:ext cx="2900363" cy="123825"/>
          </a:xfrm>
          <a:custGeom>
            <a:avLst/>
            <a:gdLst/>
            <a:ahLst/>
            <a:cxnLst/>
            <a:rect l="l" t="t" r="r" b="b"/>
            <a:pathLst>
              <a:path w="2900363" h="123825">
                <a:moveTo>
                  <a:pt x="0" y="0"/>
                </a:moveTo>
                <a:lnTo>
                  <a:pt x="2900363" y="0"/>
                </a:lnTo>
                <a:lnTo>
                  <a:pt x="290036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9853" y="343849"/>
            <a:ext cx="2900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LOGIC AND AUTOMATION RULES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8625" y="536228"/>
            <a:ext cx="5905500" cy="638175"/>
          </a:xfrm>
          <a:custGeom>
            <a:avLst/>
            <a:gdLst/>
            <a:ahLst/>
            <a:cxnLst/>
            <a:rect l="l" t="t" r="r" b="b"/>
            <a:pathLst>
              <a:path w="5905500" h="638175">
                <a:moveTo>
                  <a:pt x="0" y="0"/>
                </a:moveTo>
                <a:lnTo>
                  <a:pt x="5905500" y="0"/>
                </a:lnTo>
                <a:lnTo>
                  <a:pt x="5905500" y="638175"/>
                </a:lnTo>
                <a:lnTo>
                  <a:pt x="0" y="638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536228"/>
            <a:ext cx="59055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rules make the home system predictable, safe, and efficient.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8625" y="1242008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1242008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rule is triggered by a simple signal: occupancy, time, thresholds, or user override.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8346" y="1923548"/>
            <a:ext cx="5124450" cy="2876550"/>
          </a:xfrm>
          <a:custGeom>
            <a:avLst/>
            <a:gdLst/>
            <a:ahLst/>
            <a:cxnLst/>
            <a:rect l="l" t="t" r="r" b="b"/>
            <a:pathLst>
              <a:path w="5124450" h="2876550">
                <a:moveTo>
                  <a:pt x="42400" y="0"/>
                </a:moveTo>
                <a:lnTo>
                  <a:pt x="5082050" y="0"/>
                </a:lnTo>
                <a:quadBezTo>
                  <a:pt x="5124450" y="0"/>
                  <a:pt x="5124450" y="42400"/>
                </a:quadBezTo>
                <a:lnTo>
                  <a:pt x="5124450" y="2834150"/>
                </a:lnTo>
                <a:quadBezTo>
                  <a:pt x="5124450" y="2876550"/>
                  <a:pt x="5082050" y="2876550"/>
                </a:quadBezTo>
                <a:lnTo>
                  <a:pt x="42400" y="2876550"/>
                </a:lnTo>
                <a:quadBezTo>
                  <a:pt x="0" y="2876550"/>
                  <a:pt x="0" y="2834150"/>
                </a:quadBezTo>
                <a:lnTo>
                  <a:pt x="0" y="42400"/>
                </a:lnTo>
                <a:quadBezTo>
                  <a:pt x="0" y="0"/>
                  <a:pt x="4240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700" y="298675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5" name="Shape 12"/>
          <p:cNvSpPr/>
          <p:nvPr/>
        </p:nvSpPr>
        <p:spPr>
          <a:xfrm>
            <a:off x="818741" y="2933179"/>
            <a:ext cx="3228975" cy="204787"/>
          </a:xfrm>
          <a:custGeom>
            <a:avLst/>
            <a:gdLst/>
            <a:ahLst/>
            <a:cxnLst/>
            <a:rect l="l" t="t" r="r" b="b"/>
            <a:pathLst>
              <a:path w="3228975" h="204787">
                <a:moveTo>
                  <a:pt x="0" y="0"/>
                </a:moveTo>
                <a:lnTo>
                  <a:pt x="3228975" y="0"/>
                </a:lnTo>
                <a:lnTo>
                  <a:pt x="3228975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18741" y="2933179"/>
            <a:ext cx="322897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Occupancy-based appliance switching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7700" y="331298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8" name="Shape 15"/>
          <p:cNvSpPr/>
          <p:nvPr/>
        </p:nvSpPr>
        <p:spPr>
          <a:xfrm>
            <a:off x="819485" y="3259411"/>
            <a:ext cx="2690812" cy="204787"/>
          </a:xfrm>
          <a:custGeom>
            <a:avLst/>
            <a:gdLst/>
            <a:ahLst/>
            <a:cxnLst/>
            <a:rect l="l" t="t" r="r" b="b"/>
            <a:pathLst>
              <a:path w="2690812" h="204787">
                <a:moveTo>
                  <a:pt x="0" y="0"/>
                </a:moveTo>
                <a:lnTo>
                  <a:pt x="2690812" y="0"/>
                </a:lnTo>
                <a:lnTo>
                  <a:pt x="2690812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19485" y="3259411"/>
            <a:ext cx="2690812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Time-based scheduling routines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7700" y="363922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1" name="Shape 18"/>
          <p:cNvSpPr/>
          <p:nvPr/>
        </p:nvSpPr>
        <p:spPr>
          <a:xfrm>
            <a:off x="818051" y="3585642"/>
            <a:ext cx="2543175" cy="204787"/>
          </a:xfrm>
          <a:custGeom>
            <a:avLst/>
            <a:gdLst/>
            <a:ahLst/>
            <a:cxnLst/>
            <a:rect l="l" t="t" r="r" b="b"/>
            <a:pathLst>
              <a:path w="2543175" h="204787">
                <a:moveTo>
                  <a:pt x="0" y="0"/>
                </a:moveTo>
                <a:lnTo>
                  <a:pt x="2543175" y="0"/>
                </a:lnTo>
                <a:lnTo>
                  <a:pt x="2543175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18051" y="3585642"/>
            <a:ext cx="254317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Threshold-based energy alerts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19496" y="1923548"/>
            <a:ext cx="2895600" cy="2876550"/>
          </a:xfrm>
          <a:custGeom>
            <a:avLst/>
            <a:gdLst/>
            <a:ahLst/>
            <a:cxnLst/>
            <a:rect l="l" t="t" r="r" b="b"/>
            <a:pathLst>
              <a:path w="2895600" h="2876550">
                <a:moveTo>
                  <a:pt x="42400" y="0"/>
                </a:moveTo>
                <a:lnTo>
                  <a:pt x="2853200" y="0"/>
                </a:lnTo>
                <a:quadBezTo>
                  <a:pt x="2895600" y="0"/>
                  <a:pt x="2895600" y="42400"/>
                </a:quadBezTo>
                <a:lnTo>
                  <a:pt x="2895600" y="2834150"/>
                </a:lnTo>
                <a:quadBezTo>
                  <a:pt x="2895600" y="2876550"/>
                  <a:pt x="2853200" y="2876550"/>
                </a:quadBezTo>
                <a:lnTo>
                  <a:pt x="42400" y="2876550"/>
                </a:lnTo>
                <a:quadBezTo>
                  <a:pt x="0" y="2876550"/>
                  <a:pt x="0" y="2834150"/>
                </a:quadBezTo>
                <a:lnTo>
                  <a:pt x="0" y="42400"/>
                </a:lnTo>
                <a:quadBezTo>
                  <a:pt x="0" y="0"/>
                  <a:pt x="42400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24" name="Shape 21"/>
          <p:cNvSpPr/>
          <p:nvPr/>
        </p:nvSpPr>
        <p:spPr>
          <a:xfrm>
            <a:off x="6019521" y="2133060"/>
            <a:ext cx="2495550" cy="114300"/>
          </a:xfrm>
          <a:custGeom>
            <a:avLst/>
            <a:gdLst/>
            <a:ahLst/>
            <a:cxnLst/>
            <a:rect l="l" t="t" r="r" b="b"/>
            <a:pathLst>
              <a:path w="2495550" h="114300">
                <a:moveTo>
                  <a:pt x="0" y="0"/>
                </a:moveTo>
                <a:lnTo>
                  <a:pt x="2495550" y="0"/>
                </a:lnTo>
                <a:lnTo>
                  <a:pt x="249555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019521" y="2133060"/>
            <a:ext cx="249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OVERRIDE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19242" y="2333551"/>
            <a:ext cx="2000250" cy="438150"/>
          </a:xfrm>
          <a:custGeom>
            <a:avLst/>
            <a:gdLst/>
            <a:ahLst/>
            <a:cxnLst/>
            <a:rect l="l" t="t" r="r" b="b"/>
            <a:pathLst>
              <a:path w="2000250" h="438150">
                <a:moveTo>
                  <a:pt x="0" y="0"/>
                </a:moveTo>
                <a:lnTo>
                  <a:pt x="2000250" y="0"/>
                </a:lnTo>
                <a:lnTo>
                  <a:pt x="20002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019242" y="2333551"/>
            <a:ext cx="200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control always has priority.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19242" y="2857630"/>
            <a:ext cx="2000250" cy="538163"/>
          </a:xfrm>
          <a:custGeom>
            <a:avLst/>
            <a:gdLst/>
            <a:ahLst/>
            <a:cxnLst/>
            <a:rect l="l" t="t" r="r" b="b"/>
            <a:pathLst>
              <a:path w="2000250" h="538163">
                <a:moveTo>
                  <a:pt x="0" y="0"/>
                </a:moveTo>
                <a:lnTo>
                  <a:pt x="2000250" y="0"/>
                </a:lnTo>
                <a:lnTo>
                  <a:pt x="200025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019242" y="2857630"/>
            <a:ext cx="200025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 user intervenes, the system pauses automation to protect comfort and safety.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242" y="4391991"/>
            <a:ext cx="123825" cy="123825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210021" y="4315791"/>
            <a:ext cx="2305050" cy="276225"/>
          </a:xfrm>
          <a:custGeom>
            <a:avLst/>
            <a:gdLst/>
            <a:ahLst/>
            <a:cxnLst/>
            <a:rect l="l" t="t" r="r" b="b"/>
            <a:pathLst>
              <a:path w="2305050" h="276225">
                <a:moveTo>
                  <a:pt x="0" y="0"/>
                </a:moveTo>
                <a:lnTo>
                  <a:pt x="2305050" y="0"/>
                </a:lnTo>
                <a:lnTo>
                  <a:pt x="230505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6210021" y="4315791"/>
            <a:ext cx="2305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Override path remains immediate and reversible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BBBF1E-576C-3345-EB2C-9053031FBC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43849"/>
            <a:ext cx="6000750" cy="123825"/>
          </a:xfrm>
          <a:custGeom>
            <a:avLst/>
            <a:gdLst/>
            <a:ahLst/>
            <a:cxnLst/>
            <a:rect l="l" t="t" r="r" b="b"/>
            <a:pathLst>
              <a:path w="6000750" h="123825">
                <a:moveTo>
                  <a:pt x="0" y="0"/>
                </a:moveTo>
                <a:lnTo>
                  <a:pt x="6000750" y="0"/>
                </a:lnTo>
                <a:lnTo>
                  <a:pt x="6000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43849"/>
            <a:ext cx="6000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MONITORING DASHBOARD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524694"/>
            <a:ext cx="5619750" cy="623888"/>
          </a:xfrm>
          <a:custGeom>
            <a:avLst/>
            <a:gdLst/>
            <a:ahLst/>
            <a:cxnLst/>
            <a:rect l="l" t="t" r="r" b="b"/>
            <a:pathLst>
              <a:path w="5619750" h="623888">
                <a:moveTo>
                  <a:pt x="0" y="0"/>
                </a:moveTo>
                <a:lnTo>
                  <a:pt x="5619750" y="0"/>
                </a:lnTo>
                <a:lnTo>
                  <a:pt x="5619750" y="623888"/>
                </a:lnTo>
                <a:lnTo>
                  <a:pt x="0" y="623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4694"/>
            <a:ext cx="561975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load visibility across every circuit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1204652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0" y="0"/>
                </a:moveTo>
                <a:lnTo>
                  <a:pt x="4667250" y="0"/>
                </a:lnTo>
                <a:lnTo>
                  <a:pt x="466725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1204652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Chart-centric control view for live power, appliance consumption, trend tracking, and abnormal-load alerts.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0796" y="1795332"/>
            <a:ext cx="5381625" cy="3043238"/>
          </a:xfrm>
          <a:custGeom>
            <a:avLst/>
            <a:gdLst/>
            <a:ahLst/>
            <a:cxnLst/>
            <a:rect l="l" t="t" r="r" b="b"/>
            <a:pathLst>
              <a:path w="5381625" h="3043238">
                <a:moveTo>
                  <a:pt x="40079" y="0"/>
                </a:moveTo>
                <a:lnTo>
                  <a:pt x="5341546" y="0"/>
                </a:lnTo>
                <a:quadBezTo>
                  <a:pt x="5381625" y="0"/>
                  <a:pt x="5381625" y="40079"/>
                </a:quadBezTo>
                <a:lnTo>
                  <a:pt x="5381625" y="3003158"/>
                </a:lnTo>
                <a:quadBezTo>
                  <a:pt x="5381625" y="3043238"/>
                  <a:pt x="5341546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3577" y="1957127"/>
            <a:ext cx="3533775" cy="157163"/>
          </a:xfrm>
          <a:custGeom>
            <a:avLst/>
            <a:gdLst/>
            <a:ahLst/>
            <a:cxnLst/>
            <a:rect l="l" t="t" r="r" b="b"/>
            <a:pathLst>
              <a:path w="3533775" h="157163">
                <a:moveTo>
                  <a:pt x="0" y="0"/>
                </a:moveTo>
                <a:lnTo>
                  <a:pt x="3533775" y="0"/>
                </a:lnTo>
                <a:lnTo>
                  <a:pt x="353377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3577" y="1957127"/>
            <a:ext cx="35337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profile and usage trends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3577" y="2142381"/>
            <a:ext cx="3533775" cy="138113"/>
          </a:xfrm>
          <a:custGeom>
            <a:avLst/>
            <a:gdLst/>
            <a:ahLst/>
            <a:cxnLst/>
            <a:rect l="l" t="t" r="r" b="b"/>
            <a:pathLst>
              <a:path w="3533775" h="138113">
                <a:moveTo>
                  <a:pt x="0" y="0"/>
                </a:moveTo>
                <a:lnTo>
                  <a:pt x="3533775" y="0"/>
                </a:lnTo>
                <a:lnTo>
                  <a:pt x="35337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3577" y="2142381"/>
            <a:ext cx="35337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power and current signals with daily and weekly context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43338" y="2009031"/>
            <a:ext cx="857250" cy="219075"/>
          </a:xfrm>
          <a:custGeom>
            <a:avLst/>
            <a:gdLst/>
            <a:ahLst/>
            <a:cxnLst/>
            <a:rect l="l" t="t" r="r" b="b"/>
            <a:pathLst>
              <a:path w="857250" h="219075">
                <a:moveTo>
                  <a:pt x="109537" y="0"/>
                </a:moveTo>
                <a:lnTo>
                  <a:pt x="747713" y="0"/>
                </a:lnTo>
                <a:quadBezTo>
                  <a:pt x="857250" y="0"/>
                  <a:pt x="857250" y="109537"/>
                </a:quadBezTo>
                <a:lnTo>
                  <a:pt x="857250" y="109537"/>
                </a:lnTo>
                <a:quadBezTo>
                  <a:pt x="857250" y="219075"/>
                  <a:pt x="747713" y="219075"/>
                </a:quadBezTo>
                <a:lnTo>
                  <a:pt x="109537" y="219075"/>
                </a:lnTo>
                <a:quadBezTo>
                  <a:pt x="0" y="219075"/>
                  <a:pt x="0" y="109537"/>
                </a:quadBezTo>
                <a:lnTo>
                  <a:pt x="0" y="109537"/>
                </a:lnTo>
                <a:quadBezTo>
                  <a:pt x="0" y="0"/>
                  <a:pt x="1095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360" y="2066181"/>
            <a:ext cx="104775" cy="1047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81463" y="2066181"/>
            <a:ext cx="533400" cy="104775"/>
          </a:xfrm>
          <a:custGeom>
            <a:avLst/>
            <a:gdLst/>
            <a:ahLst/>
            <a:cxnLst/>
            <a:rect l="l" t="t" r="r" b="b"/>
            <a:pathLst>
              <a:path w="533400" h="104775">
                <a:moveTo>
                  <a:pt x="0" y="0"/>
                </a:moveTo>
                <a:lnTo>
                  <a:pt x="533400" y="0"/>
                </a:lnTo>
                <a:lnTo>
                  <a:pt x="53340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4981463" y="2066181"/>
            <a:ext cx="533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2925" y="2365734"/>
          <a:ext cx="5057775" cy="232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7"/>
          <p:cNvSpPr/>
          <p:nvPr/>
        </p:nvSpPr>
        <p:spPr>
          <a:xfrm>
            <a:off x="5991001" y="1794718"/>
            <a:ext cx="2771775" cy="728663"/>
          </a:xfrm>
          <a:custGeom>
            <a:avLst/>
            <a:gdLst/>
            <a:ahLst/>
            <a:cxnLst/>
            <a:rect l="l" t="t" r="r" b="b"/>
            <a:pathLst>
              <a:path w="2771775" h="728663">
                <a:moveTo>
                  <a:pt x="143437" y="0"/>
                </a:moveTo>
                <a:lnTo>
                  <a:pt x="2628338" y="0"/>
                </a:lnTo>
                <a:quadBezTo>
                  <a:pt x="2771775" y="0"/>
                  <a:pt x="2771775" y="143437"/>
                </a:quadBezTo>
                <a:lnTo>
                  <a:pt x="2771775" y="585225"/>
                </a:lnTo>
                <a:quadBezTo>
                  <a:pt x="2771775" y="728663"/>
                  <a:pt x="2628338" y="728663"/>
                </a:quadBezTo>
                <a:lnTo>
                  <a:pt x="143437" y="728663"/>
                </a:lnTo>
                <a:quadBezTo>
                  <a:pt x="0" y="728663"/>
                  <a:pt x="0" y="585225"/>
                </a:quadBezTo>
                <a:lnTo>
                  <a:pt x="0" y="143437"/>
                </a:lnTo>
                <a:quadBezTo>
                  <a:pt x="0" y="0"/>
                  <a:pt x="14343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66675" dir="2700000" algn="bl" rotWithShape="0">
              <a:srgbClr val="0B2E59">
                <a:alpha val="7059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24166" y="1928552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72737" y="0"/>
                </a:moveTo>
                <a:lnTo>
                  <a:pt x="136813" y="0"/>
                </a:lnTo>
                <a:quadBezTo>
                  <a:pt x="209550" y="0"/>
                  <a:pt x="209550" y="72737"/>
                </a:quadBezTo>
                <a:lnTo>
                  <a:pt x="209550" y="136813"/>
                </a:lnTo>
                <a:quadBezTo>
                  <a:pt x="209550" y="209550"/>
                  <a:pt x="136813" y="209550"/>
                </a:quadBezTo>
                <a:lnTo>
                  <a:pt x="72737" y="209550"/>
                </a:lnTo>
                <a:quadBezTo>
                  <a:pt x="0" y="209550"/>
                  <a:pt x="0" y="136813"/>
                </a:quadBezTo>
                <a:lnTo>
                  <a:pt x="0" y="72737"/>
                </a:lnTo>
                <a:quadBezTo>
                  <a:pt x="0" y="0"/>
                  <a:pt x="727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554" y="1980940"/>
            <a:ext cx="104775" cy="10477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00576" y="1928068"/>
            <a:ext cx="2228850" cy="147637"/>
          </a:xfrm>
          <a:custGeom>
            <a:avLst/>
            <a:gdLst/>
            <a:ahLst/>
            <a:cxnLst/>
            <a:rect l="l" t="t" r="r" b="b"/>
            <a:pathLst>
              <a:path w="2228850" h="147637">
                <a:moveTo>
                  <a:pt x="0" y="0"/>
                </a:moveTo>
                <a:lnTo>
                  <a:pt x="2228850" y="0"/>
                </a:lnTo>
                <a:lnTo>
                  <a:pt x="2228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400576" y="1928068"/>
            <a:ext cx="2228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power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00576" y="2103797"/>
            <a:ext cx="2228850" cy="285750"/>
          </a:xfrm>
          <a:custGeom>
            <a:avLst/>
            <a:gdLst/>
            <a:ahLst/>
            <a:cxnLst/>
            <a:rect l="l" t="t" r="r" b="b"/>
            <a:pathLst>
              <a:path w="2228850" h="285750">
                <a:moveTo>
                  <a:pt x="0" y="0"/>
                </a:moveTo>
                <a:lnTo>
                  <a:pt x="2228850" y="0"/>
                </a:lnTo>
                <a:lnTo>
                  <a:pt x="22288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400576" y="2103797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Streaming status for the main feed and connected loads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991001" y="2617663"/>
            <a:ext cx="2771775" cy="728663"/>
          </a:xfrm>
          <a:custGeom>
            <a:avLst/>
            <a:gdLst/>
            <a:ahLst/>
            <a:cxnLst/>
            <a:rect l="l" t="t" r="r" b="b"/>
            <a:pathLst>
              <a:path w="2771775" h="728663">
                <a:moveTo>
                  <a:pt x="143437" y="0"/>
                </a:moveTo>
                <a:lnTo>
                  <a:pt x="2628338" y="0"/>
                </a:lnTo>
                <a:quadBezTo>
                  <a:pt x="2771775" y="0"/>
                  <a:pt x="2771775" y="143437"/>
                </a:quadBezTo>
                <a:lnTo>
                  <a:pt x="2771775" y="585225"/>
                </a:lnTo>
                <a:quadBezTo>
                  <a:pt x="2771775" y="728663"/>
                  <a:pt x="2628338" y="728663"/>
                </a:quadBezTo>
                <a:lnTo>
                  <a:pt x="143437" y="728663"/>
                </a:lnTo>
                <a:quadBezTo>
                  <a:pt x="0" y="728663"/>
                  <a:pt x="0" y="585225"/>
                </a:quadBezTo>
                <a:lnTo>
                  <a:pt x="0" y="143437"/>
                </a:lnTo>
                <a:quadBezTo>
                  <a:pt x="0" y="0"/>
                  <a:pt x="14343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66675" dir="2700000" algn="bl" rotWithShape="0">
              <a:srgbClr val="0B2E59">
                <a:alpha val="7059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24166" y="275149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72737" y="0"/>
                </a:moveTo>
                <a:lnTo>
                  <a:pt x="136813" y="0"/>
                </a:lnTo>
                <a:quadBezTo>
                  <a:pt x="209550" y="0"/>
                  <a:pt x="209550" y="72737"/>
                </a:quadBezTo>
                <a:lnTo>
                  <a:pt x="209550" y="136813"/>
                </a:lnTo>
                <a:quadBezTo>
                  <a:pt x="209550" y="209550"/>
                  <a:pt x="136813" y="209550"/>
                </a:quadBezTo>
                <a:lnTo>
                  <a:pt x="72737" y="209550"/>
                </a:lnTo>
                <a:quadBezTo>
                  <a:pt x="0" y="209550"/>
                  <a:pt x="0" y="136813"/>
                </a:quadBezTo>
                <a:lnTo>
                  <a:pt x="0" y="72737"/>
                </a:lnTo>
                <a:quadBezTo>
                  <a:pt x="0" y="0"/>
                  <a:pt x="727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554" y="2803884"/>
            <a:ext cx="104775" cy="10477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400576" y="2751013"/>
            <a:ext cx="2228850" cy="147637"/>
          </a:xfrm>
          <a:custGeom>
            <a:avLst/>
            <a:gdLst/>
            <a:ahLst/>
            <a:cxnLst/>
            <a:rect l="l" t="t" r="r" b="b"/>
            <a:pathLst>
              <a:path w="2228850" h="147637">
                <a:moveTo>
                  <a:pt x="0" y="0"/>
                </a:moveTo>
                <a:lnTo>
                  <a:pt x="2228850" y="0"/>
                </a:lnTo>
                <a:lnTo>
                  <a:pt x="2228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400576" y="2751013"/>
            <a:ext cx="2228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current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400576" y="2926742"/>
            <a:ext cx="2228850" cy="285750"/>
          </a:xfrm>
          <a:custGeom>
            <a:avLst/>
            <a:gdLst/>
            <a:ahLst/>
            <a:cxnLst/>
            <a:rect l="l" t="t" r="r" b="b"/>
            <a:pathLst>
              <a:path w="2228850" h="285750">
                <a:moveTo>
                  <a:pt x="0" y="0"/>
                </a:moveTo>
                <a:lnTo>
                  <a:pt x="2228850" y="0"/>
                </a:lnTo>
                <a:lnTo>
                  <a:pt x="22288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6400576" y="2926742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draw compared against normal operating patterns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991001" y="3442190"/>
            <a:ext cx="2771775" cy="1395412"/>
          </a:xfrm>
          <a:custGeom>
            <a:avLst/>
            <a:gdLst/>
            <a:ahLst/>
            <a:cxnLst/>
            <a:rect l="l" t="t" r="r" b="b"/>
            <a:pathLst>
              <a:path w="2771775" h="1395412">
                <a:moveTo>
                  <a:pt x="74906" y="0"/>
                </a:moveTo>
                <a:lnTo>
                  <a:pt x="2696869" y="0"/>
                </a:lnTo>
                <a:quadBezTo>
                  <a:pt x="2771775" y="0"/>
                  <a:pt x="2771775" y="74906"/>
                </a:quadBezTo>
                <a:lnTo>
                  <a:pt x="2771775" y="1320507"/>
                </a:lnTo>
                <a:quadBezTo>
                  <a:pt x="2771775" y="1395412"/>
                  <a:pt x="2696869" y="1395412"/>
                </a:quadBezTo>
                <a:lnTo>
                  <a:pt x="74906" y="1395412"/>
                </a:lnTo>
                <a:quadBezTo>
                  <a:pt x="0" y="1395412"/>
                  <a:pt x="0" y="1320507"/>
                </a:quadBezTo>
                <a:lnTo>
                  <a:pt x="0" y="74906"/>
                </a:lnTo>
                <a:quadBezTo>
                  <a:pt x="0" y="0"/>
                  <a:pt x="74906" y="0"/>
                </a:quadBezTo>
                <a:close/>
              </a:path>
            </a:pathLst>
          </a:custGeom>
          <a:solidFill>
            <a:srgbClr val="FFF7ED"/>
          </a:solidFill>
          <a:ln w="4786">
            <a:solidFill>
              <a:srgbClr val="F4A261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929" y="3595390"/>
            <a:ext cx="114300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300453" y="3578722"/>
            <a:ext cx="771525" cy="147637"/>
          </a:xfrm>
          <a:custGeom>
            <a:avLst/>
            <a:gdLst/>
            <a:ahLst/>
            <a:cxnLst/>
            <a:rect l="l" t="t" r="r" b="b"/>
            <a:pathLst>
              <a:path w="771525" h="147637">
                <a:moveTo>
                  <a:pt x="0" y="0"/>
                </a:moveTo>
                <a:lnTo>
                  <a:pt x="771525" y="0"/>
                </a:lnTo>
                <a:lnTo>
                  <a:pt x="7715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6300453" y="3578722"/>
            <a:ext cx="7715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panel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129114" y="3793219"/>
            <a:ext cx="2495550" cy="500063"/>
          </a:xfrm>
          <a:custGeom>
            <a:avLst/>
            <a:gdLst/>
            <a:ahLst/>
            <a:cxnLst/>
            <a:rect l="l" t="t" r="r" b="b"/>
            <a:pathLst>
              <a:path w="2495550" h="500063">
                <a:moveTo>
                  <a:pt x="0" y="0"/>
                </a:moveTo>
                <a:lnTo>
                  <a:pt x="2495550" y="0"/>
                </a:lnTo>
                <a:lnTo>
                  <a:pt x="2495550" y="500063"/>
                </a:lnTo>
                <a:lnTo>
                  <a:pt x="0" y="500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6129114" y="3793219"/>
            <a:ext cx="2495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 abnormal load early, isolate the source, and keep the dashboard operator focused on exceptions.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129114" y="4442464"/>
            <a:ext cx="2495550" cy="257175"/>
          </a:xfrm>
          <a:custGeom>
            <a:avLst/>
            <a:gdLst/>
            <a:ahLst/>
            <a:cxnLst/>
            <a:rect l="l" t="t" r="r" b="b"/>
            <a:pathLst>
              <a:path w="2495550" h="257175">
                <a:moveTo>
                  <a:pt x="76201" y="0"/>
                </a:moveTo>
                <a:lnTo>
                  <a:pt x="2419349" y="0"/>
                </a:lnTo>
                <a:quadBezTo>
                  <a:pt x="2495550" y="0"/>
                  <a:pt x="2495550" y="76201"/>
                </a:quadBezTo>
                <a:lnTo>
                  <a:pt x="2495550" y="180974"/>
                </a:lnTo>
                <a:quadBezTo>
                  <a:pt x="2495550" y="257175"/>
                  <a:pt x="2419349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35"/>
          <p:cNvSpPr/>
          <p:nvPr/>
        </p:nvSpPr>
        <p:spPr>
          <a:xfrm>
            <a:off x="6205129" y="45472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44" name="Shape 36"/>
          <p:cNvSpPr/>
          <p:nvPr/>
        </p:nvSpPr>
        <p:spPr>
          <a:xfrm>
            <a:off x="6300583" y="4509139"/>
            <a:ext cx="1990725" cy="123825"/>
          </a:xfrm>
          <a:custGeom>
            <a:avLst/>
            <a:gdLst/>
            <a:ahLst/>
            <a:cxnLst/>
            <a:rect l="l" t="t" r="r" b="b"/>
            <a:pathLst>
              <a:path w="1990725" h="123825">
                <a:moveTo>
                  <a:pt x="0" y="0"/>
                </a:moveTo>
                <a:lnTo>
                  <a:pt x="1990725" y="0"/>
                </a:lnTo>
                <a:lnTo>
                  <a:pt x="19907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6300583" y="4509139"/>
            <a:ext cx="1990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reserved for exceptions only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3B72D52-D308-07A5-3D9B-3C6E350815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1D436-8622-CF11-5431-CF9205C8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821859"/>
            <a:ext cx="3899492" cy="4182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F714D7-2071-4646-3394-571B282F7946}"/>
              </a:ext>
            </a:extLst>
          </p:cNvPr>
          <p:cNvSpPr txBox="1"/>
          <p:nvPr/>
        </p:nvSpPr>
        <p:spPr>
          <a:xfrm>
            <a:off x="326572" y="175894"/>
            <a:ext cx="4572000" cy="428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Source Code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9D9A0-2309-6476-88C4-F39F79A2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5B154-01AA-FB1E-DBD3-466FF15A3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239" y="821859"/>
            <a:ext cx="4050175" cy="41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3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00050" y="353374"/>
            <a:ext cx="5619750" cy="123825"/>
          </a:xfrm>
          <a:custGeom>
            <a:avLst/>
            <a:gdLst/>
            <a:ahLst/>
            <a:cxnLst/>
            <a:rect l="l" t="t" r="r" b="b"/>
            <a:pathLst>
              <a:path w="5619750" h="123825">
                <a:moveTo>
                  <a:pt x="0" y="0"/>
                </a:moveTo>
                <a:lnTo>
                  <a:pt x="5619750" y="0"/>
                </a:lnTo>
                <a:lnTo>
                  <a:pt x="5619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00050" y="353374"/>
            <a:ext cx="5619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WORKFLOW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00050" y="544153"/>
            <a:ext cx="5334000" cy="661987"/>
          </a:xfrm>
          <a:custGeom>
            <a:avLst/>
            <a:gdLst/>
            <a:ahLst/>
            <a:cxnLst/>
            <a:rect l="l" t="t" r="r" b="b"/>
            <a:pathLst>
              <a:path w="5334000" h="661987">
                <a:moveTo>
                  <a:pt x="0" y="0"/>
                </a:moveTo>
                <a:lnTo>
                  <a:pt x="5334000" y="0"/>
                </a:lnTo>
                <a:lnTo>
                  <a:pt x="5334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0050" y="544153"/>
            <a:ext cx="5334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bench assembly to validated cloud publishing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0050" y="1272146"/>
            <a:ext cx="4667250" cy="385763"/>
          </a:xfrm>
          <a:custGeom>
            <a:avLst/>
            <a:gdLst/>
            <a:ahLst/>
            <a:cxnLst/>
            <a:rect l="l" t="t" r="r" b="b"/>
            <a:pathLst>
              <a:path w="4667250" h="385763">
                <a:moveTo>
                  <a:pt x="0" y="0"/>
                </a:moveTo>
                <a:lnTo>
                  <a:pt x="4667250" y="0"/>
                </a:lnTo>
                <a:lnTo>
                  <a:pt x="4667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00050" y="1272146"/>
            <a:ext cx="466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sequenced build path for the IoT home automation hub, moving from hardware bring-up to final calibration.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0254" y="1953853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2450" y="20960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4" name="Text 11"/>
          <p:cNvSpPr/>
          <p:nvPr/>
        </p:nvSpPr>
        <p:spPr>
          <a:xfrm>
            <a:off x="552450" y="209605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62229" y="2096281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62229" y="2096281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assembly and wiring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62229" y="2330314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62229" y="2330314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Mount modules, route power, and secure sensor-to-controller connections.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0254" y="2921980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2450" y="30641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1" name="Text 18"/>
          <p:cNvSpPr/>
          <p:nvPr/>
        </p:nvSpPr>
        <p:spPr>
          <a:xfrm>
            <a:off x="552450" y="306418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2229" y="3064408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62229" y="3064408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Firmware development and integration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62229" y="3298441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62229" y="3298441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device logic, then align firmware behavior with the assembled hardware.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0254" y="3890107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2450" y="40323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8" name="Text 25"/>
          <p:cNvSpPr/>
          <p:nvPr/>
        </p:nvSpPr>
        <p:spPr>
          <a:xfrm>
            <a:off x="552450" y="403231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62229" y="4032534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62229" y="4032534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setup and data publishing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62229" y="4266568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62229" y="4266568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 the backend, connect the stream, and publish live telemetry.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77085" y="1951993"/>
            <a:ext cx="3067050" cy="2024062"/>
          </a:xfrm>
          <a:custGeom>
            <a:avLst/>
            <a:gdLst/>
            <a:ahLst/>
            <a:cxnLst/>
            <a:rect l="l" t="t" r="r" b="b"/>
            <a:pathLst>
              <a:path w="3067050" h="2024062">
                <a:moveTo>
                  <a:pt x="64547" y="0"/>
                </a:moveTo>
                <a:lnTo>
                  <a:pt x="3002503" y="0"/>
                </a:lnTo>
                <a:quadBezTo>
                  <a:pt x="3067050" y="0"/>
                  <a:pt x="3067050" y="64547"/>
                </a:quadBezTo>
                <a:lnTo>
                  <a:pt x="3067050" y="1959515"/>
                </a:lnTo>
                <a:quadBezTo>
                  <a:pt x="3067050" y="2024062"/>
                  <a:pt x="3002503" y="2024062"/>
                </a:quadBezTo>
                <a:lnTo>
                  <a:pt x="64547" y="2024062"/>
                </a:lnTo>
                <a:quadBezTo>
                  <a:pt x="0" y="2024062"/>
                  <a:pt x="0" y="1959515"/>
                </a:quadBezTo>
                <a:lnTo>
                  <a:pt x="0" y="64547"/>
                </a:lnTo>
                <a:quadBezTo>
                  <a:pt x="0" y="0"/>
                  <a:pt x="64547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90500" dist="76200" dir="2700000" algn="bl" rotWithShape="0">
              <a:srgbClr val="0B2E59">
                <a:alpha val="14118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839234" y="213936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35" name="Shape 32"/>
          <p:cNvSpPr/>
          <p:nvPr/>
        </p:nvSpPr>
        <p:spPr>
          <a:xfrm>
            <a:off x="5971915" y="2115574"/>
            <a:ext cx="1714500" cy="114300"/>
          </a:xfrm>
          <a:custGeom>
            <a:avLst/>
            <a:gdLst/>
            <a:ahLst/>
            <a:cxnLst/>
            <a:rect l="l" t="t" r="r" b="b"/>
            <a:pathLst>
              <a:path w="1714500" h="114300">
                <a:moveTo>
                  <a:pt x="0" y="0"/>
                </a:moveTo>
                <a:lnTo>
                  <a:pt x="1714500" y="0"/>
                </a:lnTo>
                <a:lnTo>
                  <a:pt x="1714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5971915" y="2115574"/>
            <a:ext cx="1714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CHECKPOINT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39234" y="2353177"/>
            <a:ext cx="1714500" cy="676275"/>
          </a:xfrm>
          <a:custGeom>
            <a:avLst/>
            <a:gdLst/>
            <a:ahLst/>
            <a:cxnLst/>
            <a:rect l="l" t="t" r="r" b="b"/>
            <a:pathLst>
              <a:path w="1714500" h="676275">
                <a:moveTo>
                  <a:pt x="0" y="0"/>
                </a:moveTo>
                <a:lnTo>
                  <a:pt x="1714500" y="0"/>
                </a:lnTo>
                <a:lnTo>
                  <a:pt x="1714500" y="676275"/>
                </a:lnTo>
                <a:lnTo>
                  <a:pt x="0" y="676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839234" y="2353177"/>
            <a:ext cx="17145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testing and calibration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39234" y="3113670"/>
            <a:ext cx="1857375" cy="719137"/>
          </a:xfrm>
          <a:custGeom>
            <a:avLst/>
            <a:gdLst/>
            <a:ahLst/>
            <a:cxnLst/>
            <a:rect l="l" t="t" r="r" b="b"/>
            <a:pathLst>
              <a:path w="1857375" h="719137">
                <a:moveTo>
                  <a:pt x="0" y="0"/>
                </a:moveTo>
                <a:lnTo>
                  <a:pt x="1857375" y="0"/>
                </a:lnTo>
                <a:lnTo>
                  <a:pt x="18573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839234" y="3113670"/>
            <a:ext cx="18573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6E3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loop by checking response, tuning thresholds, and confirming stable operation.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953721" y="3994677"/>
            <a:ext cx="1481137" cy="147637"/>
          </a:xfrm>
          <a:custGeom>
            <a:avLst/>
            <a:gdLst/>
            <a:ahLst/>
            <a:cxnLst/>
            <a:rect l="l" t="t" r="r" b="b"/>
            <a:pathLst>
              <a:path w="1481137" h="147637">
                <a:moveTo>
                  <a:pt x="0" y="0"/>
                </a:moveTo>
                <a:lnTo>
                  <a:pt x="1481137" y="0"/>
                </a:lnTo>
                <a:lnTo>
                  <a:pt x="1481137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77085" y="4090076"/>
            <a:ext cx="3067050" cy="709613"/>
          </a:xfrm>
          <a:custGeom>
            <a:avLst/>
            <a:gdLst/>
            <a:ahLst/>
            <a:cxnLst/>
            <a:rect l="l" t="t" r="r" b="b"/>
            <a:pathLst>
              <a:path w="3067050" h="709613">
                <a:moveTo>
                  <a:pt x="147287" y="0"/>
                </a:moveTo>
                <a:lnTo>
                  <a:pt x="2919763" y="0"/>
                </a:lnTo>
                <a:quadBezTo>
                  <a:pt x="3067050" y="0"/>
                  <a:pt x="3067050" y="147287"/>
                </a:quadBezTo>
                <a:lnTo>
                  <a:pt x="3067050" y="562325"/>
                </a:lnTo>
                <a:quadBezTo>
                  <a:pt x="3067050" y="709613"/>
                  <a:pt x="2919763" y="709613"/>
                </a:quadBezTo>
                <a:lnTo>
                  <a:pt x="147287" y="709613"/>
                </a:lnTo>
                <a:quadBezTo>
                  <a:pt x="0" y="709613"/>
                  <a:pt x="0" y="562325"/>
                </a:quadBezTo>
                <a:lnTo>
                  <a:pt x="0" y="147287"/>
                </a:lnTo>
                <a:quadBezTo>
                  <a:pt x="0" y="0"/>
                  <a:pt x="14728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45" name="Shape 42"/>
          <p:cNvSpPr/>
          <p:nvPr/>
        </p:nvSpPr>
        <p:spPr>
          <a:xfrm>
            <a:off x="5810435" y="4203929"/>
            <a:ext cx="2800350" cy="114300"/>
          </a:xfrm>
          <a:custGeom>
            <a:avLst/>
            <a:gdLst/>
            <a:ahLst/>
            <a:cxnLst/>
            <a:rect l="l" t="t" r="r" b="b"/>
            <a:pathLst>
              <a:path w="2800350" h="114300">
                <a:moveTo>
                  <a:pt x="0" y="0"/>
                </a:moveTo>
                <a:lnTo>
                  <a:pt x="2800350" y="0"/>
                </a:lnTo>
                <a:lnTo>
                  <a:pt x="280035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5810435" y="4203929"/>
            <a:ext cx="2800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INTENT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10435" y="4366765"/>
            <a:ext cx="2800350" cy="319088"/>
          </a:xfrm>
          <a:custGeom>
            <a:avLst/>
            <a:gdLst/>
            <a:ahLst/>
            <a:cxnLst/>
            <a:rect l="l" t="t" r="r" b="b"/>
            <a:pathLst>
              <a:path w="2800350" h="319088">
                <a:moveTo>
                  <a:pt x="0" y="0"/>
                </a:moveTo>
                <a:lnTo>
                  <a:pt x="2800350" y="0"/>
                </a:lnTo>
                <a:lnTo>
                  <a:pt x="28003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810435" y="4366765"/>
            <a:ext cx="28003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reduces uncertainty before the next one begins.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F0ECEE-03A8-C21E-B4F5-36B95D83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05749"/>
            <a:ext cx="8382000" cy="123825"/>
          </a:xfrm>
          <a:custGeom>
            <a:avLst/>
            <a:gdLst/>
            <a:ahLst/>
            <a:cxnLst/>
            <a:rect l="l" t="t" r="r" b="b"/>
            <a:pathLst>
              <a:path w="8382000" h="123825">
                <a:moveTo>
                  <a:pt x="0" y="0"/>
                </a:moveTo>
                <a:lnTo>
                  <a:pt x="8382000" y="0"/>
                </a:lnTo>
                <a:lnTo>
                  <a:pt x="83820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05749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497458"/>
            <a:ext cx="5715000" cy="633412"/>
          </a:xfrm>
          <a:custGeom>
            <a:avLst/>
            <a:gdLst/>
            <a:ahLst/>
            <a:cxnLst/>
            <a:rect l="l" t="t" r="r" b="b"/>
            <a:pathLst>
              <a:path w="5715000" h="633412">
                <a:moveTo>
                  <a:pt x="0" y="0"/>
                </a:moveTo>
                <a:lnTo>
                  <a:pt x="5715000" y="0"/>
                </a:lnTo>
                <a:lnTo>
                  <a:pt x="5715000" y="633412"/>
                </a:lnTo>
                <a:lnTo>
                  <a:pt x="0" y="6334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7458"/>
            <a:ext cx="5715000" cy="63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 with controlled appliance trials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1216856"/>
            <a:ext cx="5334000" cy="357188"/>
          </a:xfrm>
          <a:custGeom>
            <a:avLst/>
            <a:gdLst/>
            <a:ahLst/>
            <a:cxnLst/>
            <a:rect l="l" t="t" r="r" b="b"/>
            <a:pathLst>
              <a:path w="5334000" h="357188">
                <a:moveTo>
                  <a:pt x="0" y="0"/>
                </a:moveTo>
                <a:lnTo>
                  <a:pt x="5334000" y="0"/>
                </a:lnTo>
                <a:lnTo>
                  <a:pt x="5334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1216856"/>
            <a:ext cx="5334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repeatable test environment built to compare normal, idle, and peak-load behavior under the same room conditions.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40743"/>
            <a:ext cx="8382000" cy="1714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1000" y="2993509"/>
            <a:ext cx="8382000" cy="561975"/>
          </a:xfrm>
          <a:custGeom>
            <a:avLst/>
            <a:gdLst/>
            <a:ahLst/>
            <a:cxnLst/>
            <a:rect l="l" t="t" r="r" b="b"/>
            <a:pathLst>
              <a:path w="8382000" h="561975">
                <a:moveTo>
                  <a:pt x="0" y="0"/>
                </a:moveTo>
                <a:lnTo>
                  <a:pt x="8382000" y="0"/>
                </a:lnTo>
                <a:lnTo>
                  <a:pt x="8382000" y="561975"/>
                </a:lnTo>
                <a:lnTo>
                  <a:pt x="0" y="561975"/>
                </a:ln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4" name="Shape 10"/>
          <p:cNvSpPr/>
          <p:nvPr/>
        </p:nvSpPr>
        <p:spPr>
          <a:xfrm>
            <a:off x="542925" y="3128051"/>
            <a:ext cx="8058150" cy="123825"/>
          </a:xfrm>
          <a:custGeom>
            <a:avLst/>
            <a:gdLst/>
            <a:ahLst/>
            <a:cxnLst/>
            <a:rect l="l" t="t" r="r" b="b"/>
            <a:pathLst>
              <a:path w="8058150" h="123825">
                <a:moveTo>
                  <a:pt x="0" y="0"/>
                </a:moveTo>
                <a:lnTo>
                  <a:pt x="8058150" y="0"/>
                </a:lnTo>
                <a:lnTo>
                  <a:pt x="80581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42925" y="3128051"/>
            <a:ext cx="8058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 environment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2925" y="3289734"/>
            <a:ext cx="8058150" cy="133350"/>
          </a:xfrm>
          <a:custGeom>
            <a:avLst/>
            <a:gdLst/>
            <a:ahLst/>
            <a:cxnLst/>
            <a:rect l="l" t="t" r="r" b="b"/>
            <a:pathLst>
              <a:path w="8058150" h="133350">
                <a:moveTo>
                  <a:pt x="0" y="0"/>
                </a:moveTo>
                <a:lnTo>
                  <a:pt x="8058150" y="0"/>
                </a:lnTo>
                <a:lnTo>
                  <a:pt x="80581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42925" y="3289734"/>
            <a:ext cx="80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DCE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controlled setting that mirrors household use while keeping conditions consistent across trials.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1000" y="3616287"/>
            <a:ext cx="4710112" cy="1392857"/>
          </a:xfrm>
          <a:custGeom>
            <a:avLst/>
            <a:gdLst/>
            <a:ahLst/>
            <a:cxnLst/>
            <a:rect l="l" t="t" r="r" b="b"/>
            <a:pathLst>
              <a:path w="4710112" h="1109662">
                <a:moveTo>
                  <a:pt x="109890" y="0"/>
                </a:moveTo>
                <a:lnTo>
                  <a:pt x="4600223" y="0"/>
                </a:lnTo>
                <a:quadBezTo>
                  <a:pt x="4710112" y="0"/>
                  <a:pt x="4710112" y="109890"/>
                </a:quadBezTo>
                <a:lnTo>
                  <a:pt x="4710112" y="999773"/>
                </a:lnTo>
                <a:quadBezTo>
                  <a:pt x="4710112" y="1109662"/>
                  <a:pt x="4600223" y="1109662"/>
                </a:quadBezTo>
                <a:lnTo>
                  <a:pt x="109890" y="1109662"/>
                </a:lnTo>
                <a:quadBezTo>
                  <a:pt x="0" y="1109662"/>
                  <a:pt x="0" y="999773"/>
                </a:quadBezTo>
                <a:lnTo>
                  <a:pt x="0" y="109890"/>
                </a:lnTo>
                <a:quadBezTo>
                  <a:pt x="0" y="0"/>
                  <a:pt x="10989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47625" dir="2700000" algn="bl" rotWithShape="0">
              <a:srgbClr val="102A43">
                <a:alpha val="5882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1025" y="3936709"/>
            <a:ext cx="4310062" cy="152400"/>
          </a:xfrm>
          <a:custGeom>
            <a:avLst/>
            <a:gdLst/>
            <a:ahLst/>
            <a:cxnLst/>
            <a:rect l="l" t="t" r="r" b="b"/>
            <a:pathLst>
              <a:path w="4310062" h="152400">
                <a:moveTo>
                  <a:pt x="0" y="0"/>
                </a:moveTo>
                <a:lnTo>
                  <a:pt x="4310062" y="0"/>
                </a:lnTo>
                <a:lnTo>
                  <a:pt x="4310062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81025" y="3638712"/>
            <a:ext cx="431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conditions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81025" y="3865734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2" name="Shape 18"/>
          <p:cNvSpPr/>
          <p:nvPr/>
        </p:nvSpPr>
        <p:spPr>
          <a:xfrm>
            <a:off x="733425" y="4213864"/>
            <a:ext cx="4157663" cy="147637"/>
          </a:xfrm>
          <a:custGeom>
            <a:avLst/>
            <a:gdLst/>
            <a:ahLst/>
            <a:cxnLst/>
            <a:rect l="l" t="t" r="r" b="b"/>
            <a:pathLst>
              <a:path w="4157663" h="147637">
                <a:moveTo>
                  <a:pt x="0" y="0"/>
                </a:moveTo>
                <a:lnTo>
                  <a:pt x="4157663" y="0"/>
                </a:lnTo>
                <a:lnTo>
                  <a:pt x="41576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733425" y="3834222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33425" y="4032192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experiment was run in a controlled room configured to reflect home-use conditions.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1025" y="4434478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9" name="Shape 25"/>
          <p:cNvSpPr/>
          <p:nvPr/>
        </p:nvSpPr>
        <p:spPr>
          <a:xfrm>
            <a:off x="733425" y="5009145"/>
            <a:ext cx="4157663" cy="309562"/>
          </a:xfrm>
          <a:custGeom>
            <a:avLst/>
            <a:gdLst/>
            <a:ahLst/>
            <a:cxnLst/>
            <a:rect l="l" t="t" r="r" b="b"/>
            <a:pathLst>
              <a:path w="4157663" h="309562">
                <a:moveTo>
                  <a:pt x="0" y="0"/>
                </a:moveTo>
                <a:lnTo>
                  <a:pt x="4157663" y="0"/>
                </a:lnTo>
                <a:lnTo>
                  <a:pt x="41576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29343" y="4605013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appliance was evaluated individually to isolate operating behavior and load response.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81025" y="54849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32" name="Shape 28"/>
          <p:cNvSpPr/>
          <p:nvPr/>
        </p:nvSpPr>
        <p:spPr>
          <a:xfrm>
            <a:off x="733425" y="5432989"/>
            <a:ext cx="4157663" cy="147637"/>
          </a:xfrm>
          <a:custGeom>
            <a:avLst/>
            <a:gdLst/>
            <a:ahLst/>
            <a:cxnLst/>
            <a:rect l="l" t="t" r="r" b="b"/>
            <a:pathLst>
              <a:path w="4157663" h="147637">
                <a:moveTo>
                  <a:pt x="0" y="0"/>
                </a:moveTo>
                <a:lnTo>
                  <a:pt x="4157663" y="0"/>
                </a:lnTo>
                <a:lnTo>
                  <a:pt x="41576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733425" y="5432989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Normal, idle, and peak-load cases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33425" y="5618709"/>
            <a:ext cx="4157663" cy="309562"/>
          </a:xfrm>
          <a:custGeom>
            <a:avLst/>
            <a:gdLst/>
            <a:ahLst/>
            <a:cxnLst/>
            <a:rect l="l" t="t" r="r" b="b"/>
            <a:pathLst>
              <a:path w="4157663" h="309562">
                <a:moveTo>
                  <a:pt x="0" y="0"/>
                </a:moveTo>
                <a:lnTo>
                  <a:pt x="4157663" y="0"/>
                </a:lnTo>
                <a:lnTo>
                  <a:pt x="41576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733425" y="5618709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setup was repeated across operating states to compare behavior under light and heavy demand.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81025" y="6061583"/>
            <a:ext cx="4310062" cy="381000"/>
          </a:xfrm>
          <a:custGeom>
            <a:avLst/>
            <a:gdLst/>
            <a:ahLst/>
            <a:cxnLst/>
            <a:rect l="l" t="t" r="r" b="b"/>
            <a:pathLst>
              <a:path w="4310062" h="381000">
                <a:moveTo>
                  <a:pt x="0" y="0"/>
                </a:moveTo>
                <a:lnTo>
                  <a:pt x="4310062" y="0"/>
                </a:lnTo>
                <a:lnTo>
                  <a:pt x="4310062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254466"/>
            <a:ext cx="104775" cy="10477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742950" y="6171121"/>
            <a:ext cx="4148137" cy="271463"/>
          </a:xfrm>
          <a:custGeom>
            <a:avLst/>
            <a:gdLst/>
            <a:ahLst/>
            <a:cxnLst/>
            <a:rect l="l" t="t" r="r" b="b"/>
            <a:pathLst>
              <a:path w="4148137" h="271463">
                <a:moveTo>
                  <a:pt x="0" y="0"/>
                </a:moveTo>
                <a:lnTo>
                  <a:pt x="4148137" y="0"/>
                </a:lnTo>
                <a:lnTo>
                  <a:pt x="4148137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742950" y="6171121"/>
            <a:ext cx="414813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trials were used to check consistency and reduce random variation.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281612" y="3598347"/>
            <a:ext cx="3481388" cy="739880"/>
          </a:xfrm>
          <a:custGeom>
            <a:avLst/>
            <a:gdLst/>
            <a:ahLst/>
            <a:cxnLst/>
            <a:rect l="l" t="t" r="r" b="b"/>
            <a:pathLst>
              <a:path w="3481388" h="1109662">
                <a:moveTo>
                  <a:pt x="109890" y="0"/>
                </a:moveTo>
                <a:lnTo>
                  <a:pt x="3371498" y="0"/>
                </a:lnTo>
                <a:quadBezTo>
                  <a:pt x="3481388" y="0"/>
                  <a:pt x="3481388" y="109890"/>
                </a:quadBezTo>
                <a:lnTo>
                  <a:pt x="3481388" y="999773"/>
                </a:lnTo>
                <a:quadBezTo>
                  <a:pt x="3481388" y="1109662"/>
                  <a:pt x="3371498" y="1109662"/>
                </a:quadBezTo>
                <a:lnTo>
                  <a:pt x="109890" y="1109662"/>
                </a:lnTo>
                <a:quadBezTo>
                  <a:pt x="0" y="1109662"/>
                  <a:pt x="0" y="999773"/>
                </a:quadBezTo>
                <a:lnTo>
                  <a:pt x="0" y="109890"/>
                </a:lnTo>
                <a:quadBezTo>
                  <a:pt x="0" y="0"/>
                  <a:pt x="109890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41" name="Shape 36"/>
          <p:cNvSpPr/>
          <p:nvPr/>
        </p:nvSpPr>
        <p:spPr>
          <a:xfrm>
            <a:off x="5453062" y="3675935"/>
            <a:ext cx="3138488" cy="123825"/>
          </a:xfrm>
          <a:custGeom>
            <a:avLst/>
            <a:gdLst/>
            <a:ahLst/>
            <a:cxnLst/>
            <a:rect l="l" t="t" r="r" b="b"/>
            <a:pathLst>
              <a:path w="3138488" h="123825">
                <a:moveTo>
                  <a:pt x="0" y="0"/>
                </a:moveTo>
                <a:lnTo>
                  <a:pt x="3138488" y="0"/>
                </a:lnTo>
                <a:lnTo>
                  <a:pt x="31384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5453062" y="3639193"/>
            <a:ext cx="3138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9BD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453062" y="4139096"/>
            <a:ext cx="3138488" cy="414338"/>
          </a:xfrm>
          <a:custGeom>
            <a:avLst/>
            <a:gdLst/>
            <a:ahLst/>
            <a:cxnLst/>
            <a:rect l="l" t="t" r="r" b="b"/>
            <a:pathLst>
              <a:path w="3138488" h="414338">
                <a:moveTo>
                  <a:pt x="0" y="0"/>
                </a:moveTo>
                <a:lnTo>
                  <a:pt x="3138488" y="0"/>
                </a:lnTo>
                <a:lnTo>
                  <a:pt x="3138488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5453062" y="3800276"/>
            <a:ext cx="31384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environment, repeated conditions, comparable results.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371419" y="4412196"/>
            <a:ext cx="3138488" cy="623888"/>
          </a:xfrm>
          <a:custGeom>
            <a:avLst/>
            <a:gdLst/>
            <a:ahLst/>
            <a:cxnLst/>
            <a:rect l="l" t="t" r="r" b="b"/>
            <a:pathLst>
              <a:path w="3138488" h="623888">
                <a:moveTo>
                  <a:pt x="139601" y="0"/>
                </a:moveTo>
                <a:lnTo>
                  <a:pt x="2998886" y="0"/>
                </a:lnTo>
                <a:quadBezTo>
                  <a:pt x="3138488" y="0"/>
                  <a:pt x="3138488" y="139601"/>
                </a:quadBezTo>
                <a:lnTo>
                  <a:pt x="3138488" y="484286"/>
                </a:lnTo>
                <a:quadBezTo>
                  <a:pt x="3138488" y="623888"/>
                  <a:pt x="2998886" y="623888"/>
                </a:quadBezTo>
                <a:lnTo>
                  <a:pt x="139601" y="623888"/>
                </a:lnTo>
                <a:quadBezTo>
                  <a:pt x="0" y="623888"/>
                  <a:pt x="0" y="484286"/>
                </a:quadBezTo>
                <a:lnTo>
                  <a:pt x="0" y="139601"/>
                </a:lnTo>
                <a:quadBezTo>
                  <a:pt x="0" y="0"/>
                  <a:pt x="139601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5567362" y="4660088"/>
            <a:ext cx="2909888" cy="123825"/>
          </a:xfrm>
          <a:custGeom>
            <a:avLst/>
            <a:gdLst/>
            <a:ahLst/>
            <a:cxnLst/>
            <a:rect l="l" t="t" r="r" b="b"/>
            <a:pathLst>
              <a:path w="2909888" h="123825">
                <a:moveTo>
                  <a:pt x="0" y="0"/>
                </a:moveTo>
                <a:lnTo>
                  <a:pt x="2909888" y="0"/>
                </a:lnTo>
                <a:lnTo>
                  <a:pt x="29098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2"/>
          <p:cNvSpPr/>
          <p:nvPr/>
        </p:nvSpPr>
        <p:spPr>
          <a:xfrm>
            <a:off x="5567362" y="4484881"/>
            <a:ext cx="2909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room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567362" y="4813436"/>
            <a:ext cx="2909888" cy="261937"/>
          </a:xfrm>
          <a:custGeom>
            <a:avLst/>
            <a:gdLst/>
            <a:ahLst/>
            <a:cxnLst/>
            <a:rect l="l" t="t" r="r" b="b"/>
            <a:pathLst>
              <a:path w="2909888" h="261937">
                <a:moveTo>
                  <a:pt x="0" y="0"/>
                </a:moveTo>
                <a:lnTo>
                  <a:pt x="2909888" y="0"/>
                </a:lnTo>
                <a:lnTo>
                  <a:pt x="2909888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4"/>
          <p:cNvSpPr/>
          <p:nvPr/>
        </p:nvSpPr>
        <p:spPr>
          <a:xfrm>
            <a:off x="5567362" y="4687175"/>
            <a:ext cx="290988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environment closely matching a residential setting.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5453062" y="5265632"/>
            <a:ext cx="3138488" cy="495300"/>
          </a:xfrm>
          <a:custGeom>
            <a:avLst/>
            <a:gdLst/>
            <a:ahLst/>
            <a:cxnLst/>
            <a:rect l="l" t="t" r="r" b="b"/>
            <a:pathLst>
              <a:path w="3138488" h="495300">
                <a:moveTo>
                  <a:pt x="175846" y="0"/>
                </a:moveTo>
                <a:lnTo>
                  <a:pt x="2962641" y="0"/>
                </a:lnTo>
                <a:quadBezTo>
                  <a:pt x="3138488" y="0"/>
                  <a:pt x="3138488" y="175846"/>
                </a:quadBezTo>
                <a:lnTo>
                  <a:pt x="3138488" y="319454"/>
                </a:lnTo>
                <a:quadBezTo>
                  <a:pt x="3138488" y="495300"/>
                  <a:pt x="2962641" y="495300"/>
                </a:quadBezTo>
                <a:lnTo>
                  <a:pt x="175846" y="495300"/>
                </a:lnTo>
                <a:quadBezTo>
                  <a:pt x="0" y="495300"/>
                  <a:pt x="0" y="319454"/>
                </a:quadBezTo>
                <a:lnTo>
                  <a:pt x="0" y="175846"/>
                </a:lnTo>
                <a:quadBezTo>
                  <a:pt x="0" y="0"/>
                  <a:pt x="175846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1" name="Shape 46"/>
          <p:cNvSpPr/>
          <p:nvPr/>
        </p:nvSpPr>
        <p:spPr>
          <a:xfrm>
            <a:off x="5567362" y="5371598"/>
            <a:ext cx="2909888" cy="123825"/>
          </a:xfrm>
          <a:custGeom>
            <a:avLst/>
            <a:gdLst/>
            <a:ahLst/>
            <a:cxnLst/>
            <a:rect l="l" t="t" r="r" b="b"/>
            <a:pathLst>
              <a:path w="2909888" h="123825">
                <a:moveTo>
                  <a:pt x="0" y="0"/>
                </a:moveTo>
                <a:lnTo>
                  <a:pt x="2909888" y="0"/>
                </a:lnTo>
                <a:lnTo>
                  <a:pt x="29098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5567362" y="5371598"/>
            <a:ext cx="2909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states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5567362" y="5523756"/>
            <a:ext cx="2909888" cy="133350"/>
          </a:xfrm>
          <a:custGeom>
            <a:avLst/>
            <a:gdLst/>
            <a:ahLst/>
            <a:cxnLst/>
            <a:rect l="l" t="t" r="r" b="b"/>
            <a:pathLst>
              <a:path w="2909888" h="133350">
                <a:moveTo>
                  <a:pt x="0" y="0"/>
                </a:moveTo>
                <a:lnTo>
                  <a:pt x="2909888" y="0"/>
                </a:lnTo>
                <a:lnTo>
                  <a:pt x="290988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9"/>
          <p:cNvSpPr/>
          <p:nvPr/>
        </p:nvSpPr>
        <p:spPr>
          <a:xfrm>
            <a:off x="5567362" y="5523756"/>
            <a:ext cx="2909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Normal, idle, and peak-load cases for comparison.</a:t>
            </a:r>
            <a:endParaRPr lang="en-US" sz="900" dirty="0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61583"/>
            <a:ext cx="4310062" cy="38100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06326626-733B-CA4D-C934-9C3DEF973F7B}"/>
              </a:ext>
            </a:extLst>
          </p:cNvPr>
          <p:cNvSpPr/>
          <p:nvPr/>
        </p:nvSpPr>
        <p:spPr>
          <a:xfrm>
            <a:off x="733424" y="4386299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 appliances under test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3DE990-987E-2401-5672-6BF2B597A1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81000" y="342900"/>
            <a:ext cx="6096000" cy="171450"/>
          </a:xfrm>
          <a:custGeom>
            <a:avLst/>
            <a:gdLst/>
            <a:ahLst/>
            <a:cxnLst/>
            <a:rect l="l" t="t" r="r" b="b"/>
            <a:pathLst>
              <a:path w="6096000" h="171450">
                <a:moveTo>
                  <a:pt x="0" y="0"/>
                </a:moveTo>
                <a:lnTo>
                  <a:pt x="6096000" y="0"/>
                </a:lnTo>
                <a:lnTo>
                  <a:pt x="60960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342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PERFORMANCE ANALYSIS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81000" y="581210"/>
            <a:ext cx="5810250" cy="990600"/>
          </a:xfrm>
          <a:custGeom>
            <a:avLst/>
            <a:gdLst/>
            <a:ahLst/>
            <a:cxnLst/>
            <a:rect l="l" t="t" r="r" b="b"/>
            <a:pathLst>
              <a:path w="5810250" h="990600">
                <a:moveTo>
                  <a:pt x="0" y="0"/>
                </a:moveTo>
                <a:lnTo>
                  <a:pt x="5810250" y="0"/>
                </a:lnTo>
                <a:lnTo>
                  <a:pt x="5810250" y="990600"/>
                </a:lnTo>
                <a:lnTo>
                  <a:pt x="0" y="990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81210"/>
            <a:ext cx="5810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gains were visible in both usage control and remote reliability.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1000" y="1638672"/>
            <a:ext cx="5238750" cy="385763"/>
          </a:xfrm>
          <a:custGeom>
            <a:avLst/>
            <a:gdLst/>
            <a:ahLst/>
            <a:cxnLst/>
            <a:rect l="l" t="t" r="r" b="b"/>
            <a:pathLst>
              <a:path w="5238750" h="385763">
                <a:moveTo>
                  <a:pt x="0" y="0"/>
                </a:moveTo>
                <a:lnTo>
                  <a:pt x="5238750" y="0"/>
                </a:lnTo>
                <a:lnTo>
                  <a:pt x="5238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1638672"/>
            <a:ext cx="523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automation layer reduced idle runtime, improved visibility into energy use, and kept remote switching responsive.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0274" y="2290948"/>
            <a:ext cx="4700588" cy="2693347"/>
          </a:xfrm>
          <a:custGeom>
            <a:avLst/>
            <a:gdLst/>
            <a:ahLst/>
            <a:cxnLst/>
            <a:rect l="l" t="t" r="r" b="b"/>
            <a:pathLst>
              <a:path w="4700588" h="2509838">
                <a:moveTo>
                  <a:pt x="58981" y="0"/>
                </a:moveTo>
                <a:lnTo>
                  <a:pt x="4641606" y="0"/>
                </a:lnTo>
                <a:quadBezTo>
                  <a:pt x="4700588" y="0"/>
                  <a:pt x="4700588" y="58981"/>
                </a:quadBezTo>
                <a:lnTo>
                  <a:pt x="4700588" y="2450856"/>
                </a:lnTo>
                <a:quadBezTo>
                  <a:pt x="4700588" y="2509838"/>
                  <a:pt x="4641606" y="2509838"/>
                </a:quadBezTo>
                <a:lnTo>
                  <a:pt x="58981" y="2509838"/>
                </a:lnTo>
                <a:quadBezTo>
                  <a:pt x="0" y="2509838"/>
                  <a:pt x="0" y="2450856"/>
                </a:quadBezTo>
                <a:lnTo>
                  <a:pt x="0" y="58981"/>
                </a:lnTo>
                <a:quadBezTo>
                  <a:pt x="0" y="0"/>
                  <a:pt x="58981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" y="2519735"/>
            <a:ext cx="3048000" cy="209550"/>
          </a:xfrm>
          <a:custGeom>
            <a:avLst/>
            <a:gdLst/>
            <a:ahLst/>
            <a:cxnLst/>
            <a:rect l="l" t="t" r="r" b="b"/>
            <a:pathLst>
              <a:path w="3048000" h="209550">
                <a:moveTo>
                  <a:pt x="0" y="0"/>
                </a:moveTo>
                <a:lnTo>
                  <a:pt x="3048000" y="0"/>
                </a:lnTo>
                <a:lnTo>
                  <a:pt x="30480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3637" y="2359522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impact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8650" y="2814489"/>
            <a:ext cx="3048000" cy="747712"/>
          </a:xfrm>
          <a:custGeom>
            <a:avLst/>
            <a:gdLst/>
            <a:ahLst/>
            <a:cxnLst/>
            <a:rect l="l" t="t" r="r" b="b"/>
            <a:pathLst>
              <a:path w="3048000" h="747712">
                <a:moveTo>
                  <a:pt x="0" y="0"/>
                </a:moveTo>
                <a:lnTo>
                  <a:pt x="3048000" y="0"/>
                </a:lnTo>
                <a:lnTo>
                  <a:pt x="3048000" y="747712"/>
                </a:lnTo>
                <a:lnTo>
                  <a:pt x="0" y="747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27031" y="2603079"/>
            <a:ext cx="3048000" cy="74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shifted routine appliance behavior from passive standby toward controlled, visible, and remotely managed operation.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75286" y="2519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6673" y="0"/>
                </a:moveTo>
                <a:lnTo>
                  <a:pt x="390527" y="0"/>
                </a:lnTo>
                <a:quadBezTo>
                  <a:pt x="457200" y="0"/>
                  <a:pt x="457200" y="66673"/>
                </a:quadBezTo>
                <a:lnTo>
                  <a:pt x="457200" y="390527"/>
                </a:lnTo>
                <a:quadBezTo>
                  <a:pt x="457200" y="457200"/>
                  <a:pt x="390527" y="457200"/>
                </a:quadBezTo>
                <a:lnTo>
                  <a:pt x="66673" y="457200"/>
                </a:lnTo>
                <a:quadBezTo>
                  <a:pt x="0" y="457200"/>
                  <a:pt x="0" y="390527"/>
                </a:quadBezTo>
                <a:lnTo>
                  <a:pt x="0" y="66673"/>
                </a:lnTo>
                <a:quadBezTo>
                  <a:pt x="0" y="0"/>
                  <a:pt x="66673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111" y="2643560"/>
            <a:ext cx="209550" cy="2095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650" y="33153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9" name="Shape 15"/>
          <p:cNvSpPr/>
          <p:nvPr/>
        </p:nvSpPr>
        <p:spPr>
          <a:xfrm>
            <a:off x="762000" y="3562146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62000" y="327237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idle appliance runtime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62000" y="3744032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62000" y="3450117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removed unnecessary standby behavior during low-use periods.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8650" y="38621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4" name="Shape 20"/>
          <p:cNvSpPr/>
          <p:nvPr/>
        </p:nvSpPr>
        <p:spPr>
          <a:xfrm>
            <a:off x="762000" y="4149755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762000" y="381093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visibility of energy usage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62000" y="4331644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762000" y="3984662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patterns became easier to review through the control interface.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8650" y="437631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9" name="Shape 25"/>
          <p:cNvSpPr/>
          <p:nvPr/>
        </p:nvSpPr>
        <p:spPr>
          <a:xfrm>
            <a:off x="762000" y="4737367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62000" y="432507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remote switching response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62000" y="4919254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762000" y="4470216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Commands remained dependable during normal home-network operation.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290412" y="2290279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13500000" algn="bl" rotWithShape="0">
              <a:srgbClr val="EAF2F8">
                <a:alpha val="100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11" y="2401266"/>
            <a:ext cx="133350" cy="13335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652753" y="2394124"/>
            <a:ext cx="1552575" cy="147637"/>
          </a:xfrm>
          <a:custGeom>
            <a:avLst/>
            <a:gdLst/>
            <a:ahLst/>
            <a:cxnLst/>
            <a:rect l="l" t="t" r="r" b="b"/>
            <a:pathLst>
              <a:path w="1552575" h="147637">
                <a:moveTo>
                  <a:pt x="0" y="0"/>
                </a:moveTo>
                <a:lnTo>
                  <a:pt x="1552575" y="0"/>
                </a:lnTo>
                <a:lnTo>
                  <a:pt x="155257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652753" y="2394124"/>
            <a:ext cx="155257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efficiency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452337" y="2608884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5452337" y="2608884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Routine control now supports measurable savings by reducing wasted runtime.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290412" y="3164867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611" y="3275856"/>
            <a:ext cx="133350" cy="133350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652195" y="3268712"/>
            <a:ext cx="1333500" cy="147637"/>
          </a:xfrm>
          <a:custGeom>
            <a:avLst/>
            <a:gdLst/>
            <a:ahLst/>
            <a:cxnLst/>
            <a:rect l="l" t="t" r="r" b="b"/>
            <a:pathLst>
              <a:path w="1333500" h="147637">
                <a:moveTo>
                  <a:pt x="0" y="0"/>
                </a:moveTo>
                <a:lnTo>
                  <a:pt x="1333500" y="0"/>
                </a:lnTo>
                <a:lnTo>
                  <a:pt x="133350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5652195" y="3268712"/>
            <a:ext cx="1333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 for review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452337" y="3483472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5452337" y="3483472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use became traceable enough to support engineering analysis.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5290412" y="4039456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611" y="4150444"/>
            <a:ext cx="133350" cy="13335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5652027" y="4143301"/>
            <a:ext cx="1643063" cy="147637"/>
          </a:xfrm>
          <a:custGeom>
            <a:avLst/>
            <a:gdLst/>
            <a:ahLst/>
            <a:cxnLst/>
            <a:rect l="l" t="t" r="r" b="b"/>
            <a:pathLst>
              <a:path w="1643063" h="147637">
                <a:moveTo>
                  <a:pt x="0" y="0"/>
                </a:moveTo>
                <a:lnTo>
                  <a:pt x="1643063" y="0"/>
                </a:lnTo>
                <a:lnTo>
                  <a:pt x="16430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5652027" y="4143301"/>
            <a:ext cx="16430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remote control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452337" y="4358060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5452337" y="4358060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Switching response stayed stable under everyday operating conditions.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E58F47A-57DC-3203-D77B-8F4BCE0EF2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0050" y="3952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7" name="Shape 3"/>
          <p:cNvSpPr/>
          <p:nvPr/>
        </p:nvSpPr>
        <p:spPr>
          <a:xfrm>
            <a:off x="523875" y="359569"/>
            <a:ext cx="795077" cy="138113"/>
          </a:xfrm>
          <a:custGeom>
            <a:avLst/>
            <a:gdLst/>
            <a:ahLst/>
            <a:cxnLst/>
            <a:rect l="l" t="t" r="r" b="b"/>
            <a:pathLst>
              <a:path w="795077" h="138113">
                <a:moveTo>
                  <a:pt x="0" y="0"/>
                </a:moveTo>
                <a:lnTo>
                  <a:pt x="795077" y="0"/>
                </a:lnTo>
                <a:lnTo>
                  <a:pt x="79507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523875" y="359569"/>
            <a:ext cx="79507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00050" y="581955"/>
            <a:ext cx="6096000" cy="638175"/>
          </a:xfrm>
          <a:custGeom>
            <a:avLst/>
            <a:gdLst/>
            <a:ahLst/>
            <a:cxnLst/>
            <a:rect l="l" t="t" r="r" b="b"/>
            <a:pathLst>
              <a:path w="6096000" h="638175">
                <a:moveTo>
                  <a:pt x="0" y="0"/>
                </a:moveTo>
                <a:lnTo>
                  <a:pt x="6096000" y="0"/>
                </a:lnTo>
                <a:lnTo>
                  <a:pt x="6096000" y="638175"/>
                </a:lnTo>
                <a:lnTo>
                  <a:pt x="0" y="638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00050" y="581955"/>
            <a:ext cx="60960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Discussion, Limitations, and Future Work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00050" y="1287736"/>
            <a:ext cx="5810250" cy="381000"/>
          </a:xfrm>
          <a:custGeom>
            <a:avLst/>
            <a:gdLst/>
            <a:ahLst/>
            <a:cxnLst/>
            <a:rect l="l" t="t" r="r" b="b"/>
            <a:pathLst>
              <a:path w="5810250" h="381000">
                <a:moveTo>
                  <a:pt x="0" y="0"/>
                </a:moveTo>
                <a:lnTo>
                  <a:pt x="5810250" y="0"/>
                </a:lnTo>
                <a:lnTo>
                  <a:pt x="581025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00050" y="1287736"/>
            <a:ext cx="581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balanced review of what the prototype proved, where scalability remains constrained, and which enhancements matter next.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0050" y="1831665"/>
            <a:ext cx="4067175" cy="2224088"/>
          </a:xfrm>
          <a:custGeom>
            <a:avLst/>
            <a:gdLst/>
            <a:ahLst/>
            <a:cxnLst/>
            <a:rect l="l" t="t" r="r" b="b"/>
            <a:pathLst>
              <a:path w="4067175" h="2224088">
                <a:moveTo>
                  <a:pt x="54824" y="0"/>
                </a:moveTo>
                <a:lnTo>
                  <a:pt x="4012351" y="0"/>
                </a:lnTo>
                <a:quadBezTo>
                  <a:pt x="4067175" y="0"/>
                  <a:pt x="4067175" y="54824"/>
                </a:quadBezTo>
                <a:lnTo>
                  <a:pt x="4067175" y="2169264"/>
                </a:lnTo>
                <a:quadBezTo>
                  <a:pt x="4067175" y="2224088"/>
                  <a:pt x="4012351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1025" y="206257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5" name="Shape 11"/>
          <p:cNvSpPr/>
          <p:nvPr/>
        </p:nvSpPr>
        <p:spPr>
          <a:xfrm>
            <a:off x="696330" y="2003059"/>
            <a:ext cx="2705100" cy="176212"/>
          </a:xfrm>
          <a:custGeom>
            <a:avLst/>
            <a:gdLst/>
            <a:ahLst/>
            <a:cxnLst/>
            <a:rect l="l" t="t" r="r" b="b"/>
            <a:pathLst>
              <a:path w="2705100" h="176212">
                <a:moveTo>
                  <a:pt x="0" y="0"/>
                </a:moveTo>
                <a:lnTo>
                  <a:pt x="2705100" y="0"/>
                </a:lnTo>
                <a:lnTo>
                  <a:pt x="27051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96330" y="2003059"/>
            <a:ext cx="27051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prototype established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284995"/>
            <a:ext cx="123825" cy="1238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80473" y="2265462"/>
            <a:ext cx="3014663" cy="180975"/>
          </a:xfrm>
          <a:custGeom>
            <a:avLst/>
            <a:gdLst/>
            <a:ahLst/>
            <a:cxnLst/>
            <a:rect l="l" t="t" r="r" b="b"/>
            <a:pathLst>
              <a:path w="3014663" h="180975">
                <a:moveTo>
                  <a:pt x="0" y="0"/>
                </a:moveTo>
                <a:lnTo>
                  <a:pt x="3014663" y="0"/>
                </a:lnTo>
                <a:lnTo>
                  <a:pt x="301466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80473" y="2265462"/>
            <a:ext cx="30146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functionality validated in the prototype.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69778"/>
            <a:ext cx="123825" cy="1238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81050" y="2549761"/>
            <a:ext cx="3505200" cy="361950"/>
          </a:xfrm>
          <a:custGeom>
            <a:avLst/>
            <a:gdLst/>
            <a:ahLst/>
            <a:cxnLst/>
            <a:rect l="l" t="t" r="r" b="b"/>
            <a:pathLst>
              <a:path w="3505200" h="361950">
                <a:moveTo>
                  <a:pt x="0" y="0"/>
                </a:moveTo>
                <a:lnTo>
                  <a:pt x="3505200" y="0"/>
                </a:lnTo>
                <a:lnTo>
                  <a:pt x="35052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81050" y="2549761"/>
            <a:ext cx="350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supports structured IoT home automation workflows.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76775" y="1831665"/>
            <a:ext cx="4067175" cy="2224088"/>
          </a:xfrm>
          <a:custGeom>
            <a:avLst/>
            <a:gdLst/>
            <a:ahLst/>
            <a:cxnLst/>
            <a:rect l="l" t="t" r="r" b="b"/>
            <a:pathLst>
              <a:path w="4067175" h="2224088">
                <a:moveTo>
                  <a:pt x="54824" y="0"/>
                </a:moveTo>
                <a:lnTo>
                  <a:pt x="4012351" y="0"/>
                </a:lnTo>
                <a:quadBezTo>
                  <a:pt x="4067175" y="0"/>
                  <a:pt x="4067175" y="54824"/>
                </a:quadBezTo>
                <a:lnTo>
                  <a:pt x="4067175" y="2169264"/>
                </a:lnTo>
                <a:quadBezTo>
                  <a:pt x="4067175" y="2224088"/>
                  <a:pt x="4012351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4" name="Shape 18"/>
          <p:cNvSpPr/>
          <p:nvPr/>
        </p:nvSpPr>
        <p:spPr>
          <a:xfrm>
            <a:off x="4857750" y="206257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971362" y="2003059"/>
            <a:ext cx="2124075" cy="176212"/>
          </a:xfrm>
          <a:custGeom>
            <a:avLst/>
            <a:gdLst/>
            <a:ahLst/>
            <a:cxnLst/>
            <a:rect l="l" t="t" r="r" b="b"/>
            <a:pathLst>
              <a:path w="2124075" h="176212">
                <a:moveTo>
                  <a:pt x="0" y="0"/>
                </a:moveTo>
                <a:lnTo>
                  <a:pt x="2124075" y="0"/>
                </a:lnTo>
                <a:lnTo>
                  <a:pt x="21240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4971362" y="2003059"/>
            <a:ext cx="21240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must improve next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284995"/>
            <a:ext cx="123825" cy="1238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056770" y="2265462"/>
            <a:ext cx="3005137" cy="180975"/>
          </a:xfrm>
          <a:custGeom>
            <a:avLst/>
            <a:gdLst/>
            <a:ahLst/>
            <a:cxnLst/>
            <a:rect l="l" t="t" r="r" b="b"/>
            <a:pathLst>
              <a:path w="3005137" h="180975">
                <a:moveTo>
                  <a:pt x="0" y="0"/>
                </a:moveTo>
                <a:lnTo>
                  <a:pt x="3005137" y="0"/>
                </a:lnTo>
                <a:lnTo>
                  <a:pt x="300513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5056770" y="2265462"/>
            <a:ext cx="30051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needs broader appliance support.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569778"/>
            <a:ext cx="123825" cy="12382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57775" y="2549761"/>
            <a:ext cx="3505200" cy="361950"/>
          </a:xfrm>
          <a:custGeom>
            <a:avLst/>
            <a:gdLst/>
            <a:ahLst/>
            <a:cxnLst/>
            <a:rect l="l" t="t" r="r" b="b"/>
            <a:pathLst>
              <a:path w="3505200" h="361950">
                <a:moveTo>
                  <a:pt x="0" y="0"/>
                </a:moveTo>
                <a:lnTo>
                  <a:pt x="3505200" y="0"/>
                </a:lnTo>
                <a:lnTo>
                  <a:pt x="35052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5057775" y="2549761"/>
            <a:ext cx="350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AI-based load prediction and stronger fault detection.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00050" y="4219129"/>
            <a:ext cx="8343900" cy="600075"/>
          </a:xfrm>
          <a:custGeom>
            <a:avLst/>
            <a:gdLst/>
            <a:ahLst/>
            <a:cxnLst/>
            <a:rect l="l" t="t" r="r" b="b"/>
            <a:pathLst>
              <a:path w="8343900" h="600075">
                <a:moveTo>
                  <a:pt x="174172" y="0"/>
                </a:moveTo>
                <a:lnTo>
                  <a:pt x="8169728" y="0"/>
                </a:lnTo>
                <a:quadBezTo>
                  <a:pt x="8343900" y="0"/>
                  <a:pt x="8343900" y="174172"/>
                </a:quadBezTo>
                <a:lnTo>
                  <a:pt x="8343900" y="425903"/>
                </a:lnTo>
                <a:quadBezTo>
                  <a:pt x="8343900" y="600075"/>
                  <a:pt x="8169728" y="600075"/>
                </a:quadBezTo>
                <a:lnTo>
                  <a:pt x="174172" y="600075"/>
                </a:lnTo>
                <a:quadBezTo>
                  <a:pt x="0" y="600075"/>
                  <a:pt x="0" y="425903"/>
                </a:quadBezTo>
                <a:lnTo>
                  <a:pt x="0" y="174172"/>
                </a:lnTo>
                <a:quadBezTo>
                  <a:pt x="0" y="0"/>
                  <a:pt x="174172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4447729"/>
            <a:ext cx="142875" cy="142875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80398" y="4428679"/>
            <a:ext cx="1347788" cy="180975"/>
          </a:xfrm>
          <a:custGeom>
            <a:avLst/>
            <a:gdLst/>
            <a:ahLst/>
            <a:cxnLst/>
            <a:rect l="l" t="t" r="r" b="b"/>
            <a:pathLst>
              <a:path w="1347788" h="180975">
                <a:moveTo>
                  <a:pt x="0" y="0"/>
                </a:moveTo>
                <a:lnTo>
                  <a:pt x="1347788" y="0"/>
                </a:lnTo>
                <a:lnTo>
                  <a:pt x="134778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7"/>
          <p:cNvSpPr/>
          <p:nvPr/>
        </p:nvSpPr>
        <p:spPr>
          <a:xfrm>
            <a:off x="780398" y="4428679"/>
            <a:ext cx="1347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2581275" y="4352479"/>
            <a:ext cx="6000750" cy="333375"/>
          </a:xfrm>
          <a:custGeom>
            <a:avLst/>
            <a:gdLst/>
            <a:ahLst/>
            <a:cxnLst/>
            <a:rect l="l" t="t" r="r" b="b"/>
            <a:pathLst>
              <a:path w="6000750" h="333375">
                <a:moveTo>
                  <a:pt x="0" y="0"/>
                </a:moveTo>
                <a:lnTo>
                  <a:pt x="6000750" y="0"/>
                </a:lnTo>
                <a:lnTo>
                  <a:pt x="60007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2581275" y="4352479"/>
            <a:ext cx="6000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 the prototype as a validated foundation, then prioritize wider appliance coverage, predictive intelligence, and robust security monitoring.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2031F56-991D-2E74-04C6-AF4FFC4ABC6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8305800" cy="123825"/>
          </a:xfrm>
          <a:custGeom>
            <a:avLst/>
            <a:gdLst/>
            <a:ahLst/>
            <a:cxnLst/>
            <a:rect l="l" t="t" r="r" b="b"/>
            <a:pathLst>
              <a:path w="8305800" h="123825">
                <a:moveTo>
                  <a:pt x="0" y="0"/>
                </a:moveTo>
                <a:lnTo>
                  <a:pt x="8305800" y="0"/>
                </a:lnTo>
                <a:lnTo>
                  <a:pt x="83058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8305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6246"/>
            <a:ext cx="5715000" cy="338137"/>
          </a:xfrm>
          <a:custGeom>
            <a:avLst/>
            <a:gdLst/>
            <a:ahLst/>
            <a:cxnLst/>
            <a:rect l="l" t="t" r="r" b="b"/>
            <a:pathLst>
              <a:path w="5715000" h="338137">
                <a:moveTo>
                  <a:pt x="0" y="0"/>
                </a:moveTo>
                <a:lnTo>
                  <a:pt x="5715000" y="0"/>
                </a:lnTo>
                <a:lnTo>
                  <a:pt x="57150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6246"/>
            <a:ext cx="57150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942938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942938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final summary of the prototype’s impact on efficiency, visibility, and deployment readiness.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658987"/>
            <a:ext cx="8305800" cy="1938337"/>
          </a:xfrm>
          <a:custGeom>
            <a:avLst/>
            <a:gdLst/>
            <a:ahLst/>
            <a:cxnLst/>
            <a:rect l="l" t="t" r="r" b="b"/>
            <a:pathLst>
              <a:path w="8305800" h="1938337">
                <a:moveTo>
                  <a:pt x="67396" y="0"/>
                </a:moveTo>
                <a:lnTo>
                  <a:pt x="8238404" y="0"/>
                </a:lnTo>
                <a:quadBezTo>
                  <a:pt x="8305800" y="0"/>
                  <a:pt x="8305800" y="67396"/>
                </a:quadBezTo>
                <a:lnTo>
                  <a:pt x="8305800" y="1870942"/>
                </a:lnTo>
                <a:quadBezTo>
                  <a:pt x="8305800" y="1938337"/>
                  <a:pt x="8238404" y="1938337"/>
                </a:quadBezTo>
                <a:lnTo>
                  <a:pt x="67396" y="1938337"/>
                </a:lnTo>
                <a:quadBezTo>
                  <a:pt x="0" y="1938337"/>
                  <a:pt x="0" y="1870942"/>
                </a:quadBezTo>
                <a:lnTo>
                  <a:pt x="0" y="67396"/>
                </a:lnTo>
                <a:quadBezTo>
                  <a:pt x="0" y="0"/>
                  <a:pt x="6739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2450" y="1994595"/>
            <a:ext cx="419100" cy="28575"/>
          </a:xfrm>
          <a:custGeom>
            <a:avLst/>
            <a:gdLst/>
            <a:ahLst/>
            <a:cxnLst/>
            <a:rect l="l" t="t" r="r" b="b"/>
            <a:pathLst>
              <a:path w="419100" h="28575">
                <a:moveTo>
                  <a:pt x="25400" y="0"/>
                </a:moveTo>
                <a:lnTo>
                  <a:pt x="719667" y="0"/>
                </a:lnTo>
                <a:quadBezTo>
                  <a:pt x="745067" y="0"/>
                  <a:pt x="745067" y="25400"/>
                </a:quadBezTo>
                <a:lnTo>
                  <a:pt x="745067" y="25400"/>
                </a:lnTo>
                <a:quadBezTo>
                  <a:pt x="745067" y="50800"/>
                  <a:pt x="719667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4" name="Shape 11"/>
          <p:cNvSpPr/>
          <p:nvPr/>
        </p:nvSpPr>
        <p:spPr>
          <a:xfrm>
            <a:off x="1428750" y="2156184"/>
            <a:ext cx="6286500" cy="842963"/>
          </a:xfrm>
          <a:custGeom>
            <a:avLst/>
            <a:gdLst/>
            <a:ahLst/>
            <a:cxnLst/>
            <a:rect l="l" t="t" r="r" b="b"/>
            <a:pathLst>
              <a:path w="6286500" h="842963">
                <a:moveTo>
                  <a:pt x="0" y="0"/>
                </a:moveTo>
                <a:lnTo>
                  <a:pt x="6286500" y="0"/>
                </a:lnTo>
                <a:lnTo>
                  <a:pt x="6286500" y="842963"/>
                </a:lnTo>
                <a:lnTo>
                  <a:pt x="0" y="8429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428750" y="2156184"/>
            <a:ext cx="6286500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automation improved home efficiency, monitoring enabled informed energy decisions, and the prototype is scalable for future deployment.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93331" y="3113576"/>
            <a:ext cx="1557338" cy="147637"/>
          </a:xfrm>
          <a:custGeom>
            <a:avLst/>
            <a:gdLst/>
            <a:ahLst/>
            <a:cxnLst/>
            <a:rect l="l" t="t" r="r" b="b"/>
            <a:pathLst>
              <a:path w="1557338" h="147637">
                <a:moveTo>
                  <a:pt x="0" y="0"/>
                </a:moveTo>
                <a:lnTo>
                  <a:pt x="1557338" y="0"/>
                </a:lnTo>
                <a:lnTo>
                  <a:pt x="155733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793331" y="3113576"/>
            <a:ext cx="155733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CONCLUSION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9100" y="3787377"/>
            <a:ext cx="8305800" cy="1294892"/>
          </a:xfrm>
          <a:custGeom>
            <a:avLst/>
            <a:gdLst/>
            <a:ahLst/>
            <a:cxnLst/>
            <a:rect l="l" t="t" r="r" b="b"/>
            <a:pathLst>
              <a:path w="8305800" h="1033462">
                <a:moveTo>
                  <a:pt x="109557" y="0"/>
                </a:moveTo>
                <a:lnTo>
                  <a:pt x="8196243" y="0"/>
                </a:lnTo>
                <a:quadBezTo>
                  <a:pt x="8305800" y="0"/>
                  <a:pt x="8305800" y="109557"/>
                </a:quadBezTo>
                <a:lnTo>
                  <a:pt x="8305800" y="923905"/>
                </a:lnTo>
                <a:quadBezTo>
                  <a:pt x="8305800" y="1033462"/>
                  <a:pt x="8196243" y="1033462"/>
                </a:quadBezTo>
                <a:lnTo>
                  <a:pt x="109557" y="1033462"/>
                </a:lnTo>
                <a:quadBezTo>
                  <a:pt x="0" y="1033462"/>
                  <a:pt x="0" y="923905"/>
                </a:quadBezTo>
                <a:lnTo>
                  <a:pt x="0" y="109557"/>
                </a:lnTo>
                <a:quadBezTo>
                  <a:pt x="0" y="0"/>
                  <a:pt x="10955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91986"/>
            <a:ext cx="114300" cy="1143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99523" y="3949302"/>
            <a:ext cx="4900613" cy="180975"/>
          </a:xfrm>
          <a:custGeom>
            <a:avLst/>
            <a:gdLst/>
            <a:ahLst/>
            <a:cxnLst/>
            <a:rect l="l" t="t" r="r" b="b"/>
            <a:pathLst>
              <a:path w="4900613" h="180975">
                <a:moveTo>
                  <a:pt x="0" y="0"/>
                </a:moveTo>
                <a:lnTo>
                  <a:pt x="4900613" y="0"/>
                </a:lnTo>
                <a:lnTo>
                  <a:pt x="490061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799523" y="3874296"/>
            <a:ext cx="49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reduced manual effort and improved home efficiency.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70601"/>
            <a:ext cx="114300" cy="1143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0343" y="4213623"/>
            <a:ext cx="4452937" cy="180975"/>
          </a:xfrm>
          <a:custGeom>
            <a:avLst/>
            <a:gdLst/>
            <a:ahLst/>
            <a:cxnLst/>
            <a:rect l="l" t="t" r="r" b="b"/>
            <a:pathLst>
              <a:path w="4452937" h="180975">
                <a:moveTo>
                  <a:pt x="0" y="0"/>
                </a:moveTo>
                <a:lnTo>
                  <a:pt x="4452937" y="0"/>
                </a:lnTo>
                <a:lnTo>
                  <a:pt x="445293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00343" y="4257508"/>
            <a:ext cx="445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turned energy use into clear, informed decisions.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49218"/>
            <a:ext cx="114300" cy="1143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00565" y="4477941"/>
            <a:ext cx="4357688" cy="180975"/>
          </a:xfrm>
          <a:custGeom>
            <a:avLst/>
            <a:gdLst/>
            <a:ahLst/>
            <a:cxnLst/>
            <a:rect l="l" t="t" r="r" b="b"/>
            <a:pathLst>
              <a:path w="4357688" h="180975">
                <a:moveTo>
                  <a:pt x="0" y="0"/>
                </a:moveTo>
                <a:lnTo>
                  <a:pt x="4357688" y="0"/>
                </a:lnTo>
                <a:lnTo>
                  <a:pt x="435768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799523" y="4651771"/>
            <a:ext cx="43576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prototype is structured for scalable future deployment.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80B649-46B4-0252-4FA0-629F7955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B2E59">
              <a:alpha val="72157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3709540" y="16652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3"/>
          <p:cNvSpPr/>
          <p:nvPr/>
        </p:nvSpPr>
        <p:spPr>
          <a:xfrm>
            <a:off x="3862387" y="1639081"/>
            <a:ext cx="1571625" cy="138113"/>
          </a:xfrm>
          <a:custGeom>
            <a:avLst/>
            <a:gdLst/>
            <a:ahLst/>
            <a:cxnLst/>
            <a:rect l="l" t="t" r="r" b="b"/>
            <a:pathLst>
              <a:path w="1571625" h="138113">
                <a:moveTo>
                  <a:pt x="0" y="0"/>
                </a:moveTo>
                <a:lnTo>
                  <a:pt x="1571625" y="0"/>
                </a:lnTo>
                <a:lnTo>
                  <a:pt x="15716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862387" y="1639081"/>
            <a:ext cx="1571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428750" y="1881187"/>
            <a:ext cx="6286500" cy="700088"/>
          </a:xfrm>
          <a:custGeom>
            <a:avLst/>
            <a:gdLst/>
            <a:ahLst/>
            <a:cxnLst/>
            <a:rect l="l" t="t" r="r" b="b"/>
            <a:pathLst>
              <a:path w="6286500" h="700088">
                <a:moveTo>
                  <a:pt x="0" y="0"/>
                </a:moveTo>
                <a:lnTo>
                  <a:pt x="6286500" y="0"/>
                </a:lnTo>
                <a:lnTo>
                  <a:pt x="62865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428750" y="1881187"/>
            <a:ext cx="6286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52625" y="2666702"/>
            <a:ext cx="5238750" cy="404813"/>
          </a:xfrm>
          <a:custGeom>
            <a:avLst/>
            <a:gdLst/>
            <a:ahLst/>
            <a:cxnLst/>
            <a:rect l="l" t="t" r="r" b="b"/>
            <a:pathLst>
              <a:path w="5238750" h="404813">
                <a:moveTo>
                  <a:pt x="0" y="0"/>
                </a:moveTo>
                <a:lnTo>
                  <a:pt x="5238750" y="0"/>
                </a:lnTo>
                <a:lnTo>
                  <a:pt x="52387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52625" y="2666702"/>
            <a:ext cx="52387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appreciate your time and attention. Questions and feedback are welcome.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95265" y="3232956"/>
            <a:ext cx="1376363" cy="271463"/>
          </a:xfrm>
          <a:custGeom>
            <a:avLst/>
            <a:gdLst/>
            <a:ahLst/>
            <a:cxnLst/>
            <a:rect l="l" t="t" r="r" b="b"/>
            <a:pathLst>
              <a:path w="1376363" h="271463">
                <a:moveTo>
                  <a:pt x="114299" y="0"/>
                </a:moveTo>
                <a:lnTo>
                  <a:pt x="1262063" y="0"/>
                </a:lnTo>
                <a:quadBezTo>
                  <a:pt x="1376363" y="0"/>
                  <a:pt x="1376363" y="114299"/>
                </a:quadBezTo>
                <a:lnTo>
                  <a:pt x="1376363" y="157163"/>
                </a:lnTo>
                <a:quadBezTo>
                  <a:pt x="1376363" y="271463"/>
                  <a:pt x="126206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694215" y="3232956"/>
            <a:ext cx="145294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Haneef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57652" y="3240490"/>
            <a:ext cx="1695450" cy="271463"/>
          </a:xfrm>
          <a:custGeom>
            <a:avLst/>
            <a:gdLst/>
            <a:ahLst/>
            <a:cxnLst/>
            <a:rect l="l" t="t" r="r" b="b"/>
            <a:pathLst>
              <a:path w="1695450" h="271463">
                <a:moveTo>
                  <a:pt x="114299" y="0"/>
                </a:moveTo>
                <a:lnTo>
                  <a:pt x="1581151" y="0"/>
                </a:lnTo>
                <a:quadBezTo>
                  <a:pt x="1695450" y="0"/>
                  <a:pt x="1695450" y="114299"/>
                </a:quadBezTo>
                <a:lnTo>
                  <a:pt x="1695450" y="157163"/>
                </a:lnTo>
                <a:quadBezTo>
                  <a:pt x="1695450" y="271463"/>
                  <a:pt x="1581151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147161" y="3240389"/>
            <a:ext cx="16954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Farmanullah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839126" y="3216542"/>
            <a:ext cx="709613" cy="271463"/>
          </a:xfrm>
          <a:custGeom>
            <a:avLst/>
            <a:gdLst/>
            <a:ahLst/>
            <a:cxnLst/>
            <a:rect l="l" t="t" r="r" b="b"/>
            <a:pathLst>
              <a:path w="709613" h="271463">
                <a:moveTo>
                  <a:pt x="114299" y="0"/>
                </a:moveTo>
                <a:lnTo>
                  <a:pt x="595313" y="0"/>
                </a:lnTo>
                <a:quadBezTo>
                  <a:pt x="709613" y="0"/>
                  <a:pt x="709613" y="114299"/>
                </a:quadBezTo>
                <a:lnTo>
                  <a:pt x="709613" y="157163"/>
                </a:lnTo>
                <a:quadBezTo>
                  <a:pt x="709613" y="271463"/>
                  <a:pt x="59531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946056" y="3232956"/>
            <a:ext cx="7096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Kavin JG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4728195"/>
            <a:ext cx="304800" cy="19050"/>
          </a:xfrm>
          <a:custGeom>
            <a:avLst/>
            <a:gdLst/>
            <a:ahLst/>
            <a:cxnLst/>
            <a:rect l="l" t="t" r="r" b="b"/>
            <a:pathLst>
              <a:path w="304800" h="19050">
                <a:moveTo>
                  <a:pt x="0" y="0"/>
                </a:moveTo>
                <a:lnTo>
                  <a:pt x="304800" y="0"/>
                </a:lnTo>
                <a:lnTo>
                  <a:pt x="3048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379" y="4675826"/>
            <a:ext cx="2024062" cy="123825"/>
          </a:xfrm>
          <a:custGeom>
            <a:avLst/>
            <a:gdLst/>
            <a:ahLst/>
            <a:cxnLst/>
            <a:rect l="l" t="t" r="r" b="b"/>
            <a:pathLst>
              <a:path w="2024062" h="123825">
                <a:moveTo>
                  <a:pt x="0" y="0"/>
                </a:moveTo>
                <a:lnTo>
                  <a:pt x="2024062" y="0"/>
                </a:lnTo>
                <a:lnTo>
                  <a:pt x="202406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42379" y="4675826"/>
            <a:ext cx="20240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HOME AUTOMATION HUB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41C64A-A50B-893B-5278-F4A234E9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1910</Words>
  <Application>Microsoft Office PowerPoint</Application>
  <PresentationFormat>On-screen Show (16:9)</PresentationFormat>
  <Paragraphs>261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 J.G.</cp:lastModifiedBy>
  <cp:revision>6</cp:revision>
  <dcterms:created xsi:type="dcterms:W3CDTF">2026-08-30T14:24:45Z</dcterms:created>
  <dcterms:modified xsi:type="dcterms:W3CDTF">2026-09-03T13:01:18Z</dcterms:modified>
</cp:coreProperties>
</file>